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6400800" cy="548640"/>
          </a:xfrm>
          <a:prstGeom prst="rect">
            <a:avLst/>
          </a:prstGeom>
          <a:noFill/>
        </p:spPr>
        <p:txBody>
          <a:bodyPr wrap="square" lIns="45720" rIns="45720" tIns="18288" bIns="18288" anchor="t">
            <a:spAutoFit/>
          </a:bodyPr>
          <a:lstStyle/>
          <a:p>
            <a:pPr algn="l"/>
            <a:r>
              <a:rPr sz="1800" b="1">
                <a:solidFill>
                  <a:srgbClr val="FFFFFF"/>
                </a:solidFill>
                <a:latin typeface="Calibri"/>
              </a:rPr>
              <a:t>CMP 674 — Parallel Computing with GPUs</a:t>
            </a:r>
          </a:p>
        </p:txBody>
      </p:sp>
      <p:sp>
        <p:nvSpPr>
          <p:cNvPr id="5" name="TextBox 4"/>
          <p:cNvSpPr txBox="1"/>
          <p:nvPr/>
        </p:nvSpPr>
        <p:spPr>
          <a:xfrm>
            <a:off x="7315200" y="411480"/>
            <a:ext cx="4572000" cy="548640"/>
          </a:xfrm>
          <a:prstGeom prst="rect">
            <a:avLst/>
          </a:prstGeom>
          <a:noFill/>
        </p:spPr>
        <p:txBody>
          <a:bodyPr wrap="square" lIns="45720" rIns="45720" tIns="18288" bIns="18288" anchor="t">
            <a:spAutoFit/>
          </a:bodyPr>
          <a:lstStyle/>
          <a:p>
            <a:pPr algn="r"/>
            <a:r>
              <a:rPr sz="1600" b="0">
                <a:solidFill>
                  <a:srgbClr val="FFFFFF"/>
                </a:solidFill>
                <a:latin typeface="Calibri"/>
              </a:rPr>
              <a:t>Hacettepe University · Computer Engineering</a:t>
            </a:r>
          </a:p>
        </p:txBody>
      </p:sp>
      <p:sp>
        <p:nvSpPr>
          <p:cNvPr id="6" name="TextBox 5"/>
          <p:cNvSpPr txBox="1"/>
          <p:nvPr/>
        </p:nvSpPr>
        <p:spPr>
          <a:xfrm>
            <a:off x="914400" y="2194560"/>
            <a:ext cx="10332720" cy="1371600"/>
          </a:xfrm>
          <a:prstGeom prst="rect">
            <a:avLst/>
          </a:prstGeom>
          <a:noFill/>
        </p:spPr>
        <p:txBody>
          <a:bodyPr wrap="square" lIns="45720" rIns="45720" tIns="18288" bIns="18288" anchor="t">
            <a:spAutoFit/>
          </a:bodyPr>
          <a:lstStyle/>
          <a:p>
            <a:pPr algn="ctr"/>
            <a:r>
              <a:rPr sz="4400" b="1">
                <a:solidFill>
                  <a:srgbClr val="A8002B"/>
                </a:solidFill>
                <a:latin typeface="Calibri"/>
              </a:rPr>
              <a:t>Attention Performance Comparison Analysis</a:t>
            </a:r>
          </a:p>
        </p:txBody>
      </p:sp>
      <p:sp>
        <p:nvSpPr>
          <p:cNvPr id="7" name="TextBox 6"/>
          <p:cNvSpPr txBox="1"/>
          <p:nvPr/>
        </p:nvSpPr>
        <p:spPr>
          <a:xfrm>
            <a:off x="914400" y="3200400"/>
            <a:ext cx="10332720" cy="640080"/>
          </a:xfrm>
          <a:prstGeom prst="rect">
            <a:avLst/>
          </a:prstGeom>
          <a:noFill/>
        </p:spPr>
        <p:txBody>
          <a:bodyPr wrap="square" lIns="45720" rIns="45720" tIns="18288" bIns="18288" anchor="t">
            <a:spAutoFit/>
          </a:bodyPr>
          <a:lstStyle/>
          <a:p>
            <a:pPr algn="ctr"/>
            <a:r>
              <a:rPr sz="3600" b="1">
                <a:solidFill>
                  <a:srgbClr val="A8002B"/>
                </a:solidFill>
                <a:latin typeface="Calibri"/>
              </a:rPr>
              <a:t>on Blackwell-Architecture GPUs</a:t>
            </a:r>
          </a:p>
        </p:txBody>
      </p:sp>
      <p:sp>
        <p:nvSpPr>
          <p:cNvPr id="8" name="TextBox 7"/>
          <p:cNvSpPr txBox="1"/>
          <p:nvPr/>
        </p:nvSpPr>
        <p:spPr>
          <a:xfrm>
            <a:off x="914400" y="4206240"/>
            <a:ext cx="10332720" cy="548640"/>
          </a:xfrm>
          <a:prstGeom prst="rect">
            <a:avLst/>
          </a:prstGeom>
          <a:noFill/>
        </p:spPr>
        <p:txBody>
          <a:bodyPr wrap="square" lIns="45720" rIns="45720" tIns="18288" bIns="18288" anchor="t">
            <a:spAutoFit/>
          </a:bodyPr>
          <a:lstStyle/>
          <a:p>
            <a:pPr algn="ctr"/>
            <a:r>
              <a:rPr sz="2000" b="0">
                <a:solidFill>
                  <a:srgbClr val="28282D"/>
                </a:solidFill>
                <a:latin typeface="Calibri"/>
              </a:rPr>
              <a:t>A Five-Variant Pareto Replication Study from FP32 to NVFP4 on the RTX 5080</a:t>
            </a:r>
          </a:p>
        </p:txBody>
      </p:sp>
      <p:sp>
        <p:nvSpPr>
          <p:cNvPr id="9" name="TextBox 8"/>
          <p:cNvSpPr txBox="1"/>
          <p:nvPr/>
        </p:nvSpPr>
        <p:spPr>
          <a:xfrm>
            <a:off x="914400" y="4754880"/>
            <a:ext cx="10332720" cy="548640"/>
          </a:xfrm>
          <a:prstGeom prst="rect">
            <a:avLst/>
          </a:prstGeom>
          <a:noFill/>
        </p:spPr>
        <p:txBody>
          <a:bodyPr wrap="square" lIns="45720" rIns="45720" tIns="18288" bIns="18288" anchor="t">
            <a:spAutoFit/>
          </a:bodyPr>
          <a:lstStyle/>
          <a:p>
            <a:pPr algn="ctr"/>
            <a:r>
              <a:rPr sz="1600" b="0">
                <a:solidFill>
                  <a:srgbClr val="4B7800"/>
                </a:solidFill>
                <a:latin typeface="Calibri"/>
              </a:rPr>
              <a:t>Course project · Spring 2026</a:t>
            </a:r>
          </a:p>
        </p:txBody>
      </p:sp>
      <p:sp>
        <p:nvSpPr>
          <p:cNvPr id="10" name="TextBox 9"/>
          <p:cNvSpPr txBox="1"/>
          <p:nvPr/>
        </p:nvSpPr>
        <p:spPr>
          <a:xfrm>
            <a:off x="914400" y="5486400"/>
            <a:ext cx="10332720" cy="457200"/>
          </a:xfrm>
          <a:prstGeom prst="rect">
            <a:avLst/>
          </a:prstGeom>
          <a:noFill/>
        </p:spPr>
        <p:txBody>
          <a:bodyPr wrap="square" lIns="45720" rIns="45720" tIns="18288" bIns="18288" anchor="t">
            <a:spAutoFit/>
          </a:bodyPr>
          <a:lstStyle/>
          <a:p>
            <a:pPr algn="ctr"/>
            <a:r>
              <a:rPr sz="1400" b="0">
                <a:solidFill>
                  <a:srgbClr val="28282D"/>
                </a:solidFill>
                <a:latin typeface="Consolas"/>
              </a:rPr>
              <a:t>github.com/canoztas/cmp674-attention-blackwell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Introduction · Attention is the LLM Bottleneck</a:t>
            </a:r>
          </a:p>
        </p:txBody>
      </p:sp>
      <p:sp>
        <p:nvSpPr>
          <p:cNvPr id="3" name="TextBox 2"/>
          <p:cNvSpPr txBox="1"/>
          <p:nvPr/>
        </p:nvSpPr>
        <p:spPr>
          <a:xfrm>
            <a:off x="457200" y="1005840"/>
            <a:ext cx="11247120" cy="548640"/>
          </a:xfrm>
          <a:prstGeom prst="rect">
            <a:avLst/>
          </a:prstGeom>
          <a:noFill/>
        </p:spPr>
        <p:txBody>
          <a:bodyPr wrap="square" lIns="45720" rIns="45720" tIns="18288" bIns="18288" anchor="t">
            <a:spAutoFit/>
          </a:bodyPr>
          <a:lstStyle/>
          <a:p>
            <a:pPr algn="l"/>
            <a:r>
              <a:rPr sz="1800" b="1">
                <a:solidFill>
                  <a:srgbClr val="A8002B"/>
                </a:solidFill>
                <a:latin typeface="Calibri"/>
              </a:rPr>
              <a:t>Modern Large Language Models are bottlenecked by the attention operation.</a:t>
            </a:r>
          </a:p>
        </p:txBody>
      </p:sp>
      <p:sp>
        <p:nvSpPr>
          <p:cNvPr id="4" name="TextBox 3"/>
          <p:cNvSpPr txBox="1"/>
          <p:nvPr/>
        </p:nvSpPr>
        <p:spPr>
          <a:xfrm>
            <a:off x="457200" y="1645920"/>
            <a:ext cx="11247120" cy="2286000"/>
          </a:xfrm>
          <a:prstGeom prst="rect">
            <a:avLst/>
          </a:prstGeom>
          <a:noFill/>
        </p:spPr>
        <p:txBody>
          <a:bodyPr wrap="square" lIns="45720" rIns="45720">
            <a:spAutoFit/>
          </a:bodyPr>
          <a:lstStyle/>
          <a:p>
            <a:pPr algn="l">
              <a:spcAft>
                <a:spcPts val="400"/>
              </a:spcAft>
            </a:pPr>
            <a:r>
              <a:rPr sz="1500" b="1">
                <a:solidFill>
                  <a:srgbClr val="76B900"/>
                </a:solidFill>
                <a:latin typeface="Calibri"/>
              </a:rPr>
              <a:t>▶  </a:t>
            </a:r>
            <a:r>
              <a:rPr sz="1500">
                <a:solidFill>
                  <a:srgbClr val="28282D"/>
                </a:solidFill>
                <a:latin typeface="Calibri"/>
              </a:rPr>
              <a:t>Self-attention computes softmax(QKᵀ/√D)·V — quadratic in sequence length N.</a:t>
            </a:r>
          </a:p>
          <a:p>
            <a:pPr algn="l" lvl="1">
              <a:spcAft>
                <a:spcPts val="200"/>
              </a:spcAft>
            </a:pPr>
            <a:r>
              <a:rPr sz="1300" b="1">
                <a:solidFill>
                  <a:srgbClr val="4B7800"/>
                </a:solidFill>
                <a:latin typeface="Calibri"/>
              </a:rPr>
              <a:t>·  </a:t>
            </a:r>
            <a:r>
              <a:rPr sz="1300">
                <a:solidFill>
                  <a:srgbClr val="28282D"/>
                </a:solidFill>
                <a:latin typeface="Calibri"/>
              </a:rPr>
              <a:t>For each query token, every other token contributes to the softmax — O(N²) work and O(N²) memory.</a:t>
            </a:r>
          </a:p>
          <a:p>
            <a:pPr algn="l" lvl="1">
              <a:spcAft>
                <a:spcPts val="200"/>
              </a:spcAft>
            </a:pPr>
            <a:r>
              <a:rPr sz="1300" b="1">
                <a:solidFill>
                  <a:srgbClr val="4B7800"/>
                </a:solidFill>
                <a:latin typeface="Calibri"/>
              </a:rPr>
              <a:t>·  </a:t>
            </a:r>
            <a:r>
              <a:rPr sz="1300">
                <a:solidFill>
                  <a:srgbClr val="28282D"/>
                </a:solidFill>
                <a:latin typeface="Calibri"/>
              </a:rPr>
              <a:t>The N×N score matrix S = QKᵀ is the central object that breaks long-context inference.</a:t>
            </a:r>
          </a:p>
          <a:p>
            <a:pPr algn="l">
              <a:spcAft>
                <a:spcPts val="400"/>
              </a:spcAft>
            </a:pPr>
            <a:r>
              <a:rPr sz="1500" b="1">
                <a:solidFill>
                  <a:srgbClr val="76B900"/>
                </a:solidFill>
                <a:latin typeface="Calibri"/>
              </a:rPr>
              <a:t>▶  </a:t>
            </a:r>
            <a:r>
              <a:rPr sz="1500">
                <a:solidFill>
                  <a:srgbClr val="28282D"/>
                </a:solidFill>
                <a:latin typeface="Calibri"/>
              </a:rPr>
              <a:t>On every transformer forward pass, attention dominates both compute and memory traffic.</a:t>
            </a:r>
          </a:p>
          <a:p>
            <a:pPr algn="l" lvl="1">
              <a:spcAft>
                <a:spcPts val="200"/>
              </a:spcAft>
            </a:pPr>
            <a:r>
              <a:rPr sz="1300" b="1">
                <a:solidFill>
                  <a:srgbClr val="4B7800"/>
                </a:solidFill>
                <a:latin typeface="Calibri"/>
              </a:rPr>
              <a:t>·  </a:t>
            </a:r>
            <a:r>
              <a:rPr sz="1300">
                <a:solidFill>
                  <a:srgbClr val="28282D"/>
                </a:solidFill>
                <a:latin typeface="Calibri"/>
              </a:rPr>
              <a:t>Two matmuls (QKᵀ and PV) carry the FLOPs.</a:t>
            </a:r>
          </a:p>
          <a:p>
            <a:pPr algn="l" lvl="1">
              <a:spcAft>
                <a:spcPts val="200"/>
              </a:spcAft>
            </a:pPr>
            <a:r>
              <a:rPr sz="1300" b="1">
                <a:solidFill>
                  <a:srgbClr val="4B7800"/>
                </a:solidFill>
                <a:latin typeface="Calibri"/>
              </a:rPr>
              <a:t>·  </a:t>
            </a:r>
            <a:r>
              <a:rPr sz="1300">
                <a:solidFill>
                  <a:srgbClr val="28282D"/>
                </a:solidFill>
                <a:latin typeface="Calibri"/>
              </a:rPr>
              <a:t>S and P (attention probabilities) carry the HBM traffic; both are N×N.</a:t>
            </a:r>
          </a:p>
        </p:txBody>
      </p:sp>
      <p:sp>
        <p:nvSpPr>
          <p:cNvPr id="5" name="Rectangle 4"/>
          <p:cNvSpPr/>
          <p:nvPr/>
        </p:nvSpPr>
        <p:spPr>
          <a:xfrm>
            <a:off x="457200" y="4297680"/>
            <a:ext cx="11247120" cy="411480"/>
          </a:xfrm>
          <a:prstGeom prst="rect">
            <a:avLst/>
          </a:prstGeom>
          <a:solidFill>
            <a:srgbClr val="4B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4709160"/>
            <a:ext cx="11247120" cy="1417320"/>
          </a:xfrm>
          <a:prstGeom prst="rect">
            <a:avLst/>
          </a:prstGeom>
          <a:solidFill>
            <a:srgbClr val="C8E6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297680"/>
            <a:ext cx="11247120" cy="411480"/>
          </a:xfrm>
          <a:prstGeom prst="rect">
            <a:avLst/>
          </a:prstGeom>
          <a:noFill/>
        </p:spPr>
        <p:txBody>
          <a:bodyPr wrap="none" lIns="137160" anchor="ctr">
            <a:spAutoFit/>
          </a:bodyPr>
          <a:lstStyle/>
          <a:p>
            <a:pPr algn="l"/>
            <a:r>
              <a:rPr sz="1400" b="1">
                <a:solidFill>
                  <a:srgbClr val="FFFFFF"/>
                </a:solidFill>
                <a:latin typeface="Calibri"/>
              </a:rPr>
              <a:t>Why this matters at the systems level</a:t>
            </a:r>
          </a:p>
        </p:txBody>
      </p:sp>
      <p:sp>
        <p:nvSpPr>
          <p:cNvPr id="8" name="TextBox 7"/>
          <p:cNvSpPr txBox="1"/>
          <p:nvPr/>
        </p:nvSpPr>
        <p:spPr>
          <a:xfrm>
            <a:off x="594360" y="4754880"/>
            <a:ext cx="10972800" cy="1325880"/>
          </a:xfrm>
          <a:prstGeom prst="rect">
            <a:avLst/>
          </a:prstGeom>
          <a:noFill/>
        </p:spPr>
        <p:txBody>
          <a:bodyPr wrap="square">
            <a:spAutoFit/>
          </a:bodyPr>
          <a:lstStyle/>
          <a:p>
            <a:pPr algn="l">
              <a:spcAft>
                <a:spcPts val="200"/>
              </a:spcAft>
            </a:pPr>
            <a:r>
              <a:rPr sz="1400" b="1">
                <a:solidFill>
                  <a:srgbClr val="76B900"/>
                </a:solidFill>
              </a:rPr>
              <a:t>▶  </a:t>
            </a:r>
            <a:r>
              <a:rPr sz="1400">
                <a:solidFill>
                  <a:srgbClr val="28282D"/>
                </a:solidFill>
                <a:latin typeface="Calibri"/>
              </a:rPr>
              <a:t>At seq_len = 8192, batch = 2, heads = 8, the score matrix alone is ≈ 4 GB of HBM traffic per forward pass.</a:t>
            </a:r>
          </a:p>
          <a:p>
            <a:pPr algn="l">
              <a:spcAft>
                <a:spcPts val="200"/>
              </a:spcAft>
            </a:pPr>
            <a:r>
              <a:rPr sz="1400" b="1">
                <a:solidFill>
                  <a:srgbClr val="76B900"/>
                </a:solidFill>
              </a:rPr>
              <a:t>▶  </a:t>
            </a:r>
            <a:r>
              <a:rPr sz="1400">
                <a:solidFill>
                  <a:srgbClr val="28282D"/>
                </a:solidFill>
                <a:latin typeface="Calibri"/>
              </a:rPr>
              <a:t>At seq_len = 16384 it is ≈ 17 GB — does not fit on a 16 GB consumer card at all.</a:t>
            </a:r>
          </a:p>
          <a:p>
            <a:pPr algn="l">
              <a:spcAft>
                <a:spcPts val="200"/>
              </a:spcAft>
            </a:pPr>
            <a:r>
              <a:rPr sz="1400" b="1">
                <a:solidFill>
                  <a:srgbClr val="76B900"/>
                </a:solidFill>
              </a:rPr>
              <a:t>▶  </a:t>
            </a:r>
            <a:r>
              <a:rPr sz="1400">
                <a:solidFill>
                  <a:srgbClr val="28282D"/>
                </a:solidFill>
                <a:latin typeface="Calibri"/>
              </a:rPr>
              <a:t>Long-context inference is therefore not an algorithm problem; it is a kernel-and-memory problem.</a:t>
            </a:r>
          </a:p>
        </p:txBody>
      </p:sp>
      <p:sp>
        <p:nvSpPr>
          <p:cNvPr id="9" name="Rectangle 8"/>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10" name="TextBox 9"/>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Memory and Compute Obstacles in LLM Training on GPUs</a:t>
            </a:r>
          </a:p>
        </p:txBody>
      </p:sp>
      <p:sp>
        <p:nvSpPr>
          <p:cNvPr id="3" name="TextBox 2"/>
          <p:cNvSpPr txBox="1"/>
          <p:nvPr/>
        </p:nvSpPr>
        <p:spPr>
          <a:xfrm>
            <a:off x="457200" y="1005840"/>
            <a:ext cx="11247120" cy="457200"/>
          </a:xfrm>
          <a:prstGeom prst="rect">
            <a:avLst/>
          </a:prstGeom>
          <a:noFill/>
        </p:spPr>
        <p:txBody>
          <a:bodyPr wrap="square" lIns="45720" rIns="45720" tIns="18288" bIns="18288" anchor="t">
            <a:spAutoFit/>
          </a:bodyPr>
          <a:lstStyle/>
          <a:p>
            <a:pPr algn="l"/>
            <a:r>
              <a:rPr sz="1600" b="1">
                <a:solidFill>
                  <a:srgbClr val="28282D"/>
                </a:solidFill>
                <a:latin typeface="Calibri"/>
              </a:rPr>
              <a:t>Three concrete walls every attention kernel hits on contemporary GPUs:</a:t>
            </a:r>
          </a:p>
        </p:txBody>
      </p:sp>
      <p:sp>
        <p:nvSpPr>
          <p:cNvPr id="4" name="Rectangle 3"/>
          <p:cNvSpPr/>
          <p:nvPr/>
        </p:nvSpPr>
        <p:spPr>
          <a:xfrm>
            <a:off x="457200" y="1554480"/>
            <a:ext cx="365760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965960"/>
            <a:ext cx="3657600" cy="28803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54480"/>
            <a:ext cx="3657600" cy="411480"/>
          </a:xfrm>
          <a:prstGeom prst="rect">
            <a:avLst/>
          </a:prstGeom>
          <a:noFill/>
        </p:spPr>
        <p:txBody>
          <a:bodyPr wrap="none" lIns="137160" anchor="ctr">
            <a:spAutoFit/>
          </a:bodyPr>
          <a:lstStyle/>
          <a:p>
            <a:pPr algn="l"/>
            <a:r>
              <a:rPr sz="1400" b="1">
                <a:solidFill>
                  <a:srgbClr val="FFFFFF"/>
                </a:solidFill>
                <a:latin typeface="Calibri"/>
              </a:rPr>
              <a:t>1. The Memory Wall</a:t>
            </a:r>
          </a:p>
        </p:txBody>
      </p:sp>
      <p:sp>
        <p:nvSpPr>
          <p:cNvPr id="7" name="TextBox 6"/>
          <p:cNvSpPr txBox="1"/>
          <p:nvPr/>
        </p:nvSpPr>
        <p:spPr>
          <a:xfrm>
            <a:off x="594360" y="2011680"/>
            <a:ext cx="3383280" cy="2788920"/>
          </a:xfrm>
          <a:prstGeom prst="rect">
            <a:avLst/>
          </a:prstGeom>
          <a:noFill/>
        </p:spPr>
        <p:txBody>
          <a:bodyPr wrap="square">
            <a:spAutoFit/>
          </a:bodyPr>
          <a:lstStyle/>
          <a:p>
            <a:pPr algn="l">
              <a:spcAft>
                <a:spcPts val="200"/>
              </a:spcAft>
            </a:pPr>
            <a:r>
              <a:rPr sz="1200" b="1">
                <a:solidFill>
                  <a:srgbClr val="76B900"/>
                </a:solidFill>
              </a:rPr>
              <a:t>▶  </a:t>
            </a:r>
            <a:r>
              <a:rPr sz="1200">
                <a:solidFill>
                  <a:srgbClr val="28282D"/>
                </a:solidFill>
                <a:latin typeface="Calibri"/>
              </a:rPr>
              <a:t>Materialized N×N score matrix scales O(N²) in HBM.</a:t>
            </a:r>
          </a:p>
          <a:p>
            <a:pPr algn="l">
              <a:spcAft>
                <a:spcPts val="200"/>
              </a:spcAft>
            </a:pPr>
            <a:r>
              <a:rPr sz="1200" b="1">
                <a:solidFill>
                  <a:srgbClr val="76B900"/>
                </a:solidFill>
              </a:rPr>
              <a:t>▶  </a:t>
            </a:r>
            <a:r>
              <a:rPr sz="1200">
                <a:solidFill>
                  <a:srgbClr val="28282D"/>
                </a:solidFill>
                <a:latin typeface="Calibri"/>
              </a:rPr>
              <a:t>VRAM ceiling: 16 GB on RTX 5080.</a:t>
            </a:r>
          </a:p>
          <a:p>
            <a:pPr algn="l">
              <a:spcAft>
                <a:spcPts val="200"/>
              </a:spcAft>
            </a:pPr>
            <a:r>
              <a:rPr sz="1200" b="1">
                <a:solidFill>
                  <a:srgbClr val="76B900"/>
                </a:solidFill>
              </a:rPr>
              <a:t>▶  </a:t>
            </a:r>
            <a:r>
              <a:rPr sz="1200">
                <a:solidFill>
                  <a:srgbClr val="28282D"/>
                </a:solidFill>
                <a:latin typeface="Calibri"/>
              </a:rPr>
              <a:t>HBM bandwidth peak: ≈ 960 GB/s — moving the score matrix dominates total traffic.</a:t>
            </a:r>
          </a:p>
          <a:p>
            <a:pPr algn="l">
              <a:spcAft>
                <a:spcPts val="200"/>
              </a:spcAft>
            </a:pPr>
            <a:r>
              <a:rPr sz="1200" b="1">
                <a:solidFill>
                  <a:srgbClr val="76B900"/>
                </a:solidFill>
              </a:rPr>
              <a:t>▶  </a:t>
            </a:r>
            <a:r>
              <a:rPr sz="1200">
                <a:solidFill>
                  <a:srgbClr val="28282D"/>
                </a:solidFill>
                <a:latin typeface="Calibri"/>
              </a:rPr>
              <a:t>Causes OOMs at long context even before compute matters.</a:t>
            </a:r>
          </a:p>
        </p:txBody>
      </p:sp>
      <p:sp>
        <p:nvSpPr>
          <p:cNvPr id="8" name="Rectangle 7"/>
          <p:cNvSpPr/>
          <p:nvPr/>
        </p:nvSpPr>
        <p:spPr>
          <a:xfrm>
            <a:off x="4251960" y="1554480"/>
            <a:ext cx="365760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1965960"/>
            <a:ext cx="3657600" cy="28803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1554480"/>
            <a:ext cx="3657600" cy="411480"/>
          </a:xfrm>
          <a:prstGeom prst="rect">
            <a:avLst/>
          </a:prstGeom>
          <a:noFill/>
        </p:spPr>
        <p:txBody>
          <a:bodyPr wrap="none" lIns="137160" anchor="ctr">
            <a:spAutoFit/>
          </a:bodyPr>
          <a:lstStyle/>
          <a:p>
            <a:pPr algn="l"/>
            <a:r>
              <a:rPr sz="1400" b="1">
                <a:solidFill>
                  <a:srgbClr val="FFFFFF"/>
                </a:solidFill>
                <a:latin typeface="Calibri"/>
              </a:rPr>
              <a:t>2. The Compute Wall</a:t>
            </a:r>
          </a:p>
        </p:txBody>
      </p:sp>
      <p:sp>
        <p:nvSpPr>
          <p:cNvPr id="11" name="TextBox 10"/>
          <p:cNvSpPr txBox="1"/>
          <p:nvPr/>
        </p:nvSpPr>
        <p:spPr>
          <a:xfrm>
            <a:off x="4389120" y="2011680"/>
            <a:ext cx="3383280" cy="2788920"/>
          </a:xfrm>
          <a:prstGeom prst="rect">
            <a:avLst/>
          </a:prstGeom>
          <a:noFill/>
        </p:spPr>
        <p:txBody>
          <a:bodyPr wrap="square">
            <a:spAutoFit/>
          </a:bodyPr>
          <a:lstStyle/>
          <a:p>
            <a:pPr algn="l">
              <a:spcAft>
                <a:spcPts val="200"/>
              </a:spcAft>
            </a:pPr>
            <a:r>
              <a:rPr sz="1200" b="1">
                <a:solidFill>
                  <a:srgbClr val="76B900"/>
                </a:solidFill>
              </a:rPr>
              <a:t>▶  </a:t>
            </a:r>
            <a:r>
              <a:rPr sz="1200">
                <a:solidFill>
                  <a:srgbClr val="28282D"/>
                </a:solidFill>
                <a:latin typeface="Calibri"/>
              </a:rPr>
              <a:t>Two matmuls (QKᵀ and PV) define the FLOP budget.</a:t>
            </a:r>
          </a:p>
          <a:p>
            <a:pPr algn="l">
              <a:spcAft>
                <a:spcPts val="200"/>
              </a:spcAft>
            </a:pPr>
            <a:r>
              <a:rPr sz="1200" b="1">
                <a:solidFill>
                  <a:srgbClr val="76B900"/>
                </a:solidFill>
              </a:rPr>
              <a:t>▶  </a:t>
            </a:r>
            <a:r>
              <a:rPr sz="1200">
                <a:solidFill>
                  <a:srgbClr val="28282D"/>
                </a:solidFill>
                <a:latin typeface="Calibri"/>
              </a:rPr>
              <a:t>Tensor Cores (5th-gen on Blackwell) accelerate matmuls only at supported precisions: FP16, FP8, FP4.</a:t>
            </a:r>
          </a:p>
          <a:p>
            <a:pPr algn="l">
              <a:spcAft>
                <a:spcPts val="200"/>
              </a:spcAft>
            </a:pPr>
            <a:r>
              <a:rPr sz="1200" b="1">
                <a:solidFill>
                  <a:srgbClr val="76B900"/>
                </a:solidFill>
              </a:rPr>
              <a:t>▶  </a:t>
            </a:r>
            <a:r>
              <a:rPr sz="1200">
                <a:solidFill>
                  <a:srgbClr val="28282D"/>
                </a:solidFill>
                <a:latin typeface="Calibri"/>
              </a:rPr>
              <a:t>FP32 ALU is ≈ 50× slower; using it kills throughput.</a:t>
            </a:r>
          </a:p>
          <a:p>
            <a:pPr algn="l">
              <a:spcAft>
                <a:spcPts val="200"/>
              </a:spcAft>
            </a:pPr>
            <a:r>
              <a:rPr sz="1200" b="1">
                <a:solidFill>
                  <a:srgbClr val="76B900"/>
                </a:solidFill>
              </a:rPr>
              <a:t>▶  </a:t>
            </a:r>
            <a:r>
              <a:rPr sz="1200">
                <a:solidFill>
                  <a:srgbClr val="28282D"/>
                </a:solidFill>
                <a:latin typeface="Calibri"/>
              </a:rPr>
              <a:t>Each precision halves the storage but narrows the dynamic range.</a:t>
            </a:r>
          </a:p>
        </p:txBody>
      </p:sp>
      <p:sp>
        <p:nvSpPr>
          <p:cNvPr id="12" name="Rectangle 11"/>
          <p:cNvSpPr/>
          <p:nvPr/>
        </p:nvSpPr>
        <p:spPr>
          <a:xfrm>
            <a:off x="8046720" y="1554480"/>
            <a:ext cx="365760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965960"/>
            <a:ext cx="3657600" cy="28803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1554480"/>
            <a:ext cx="3657600" cy="411480"/>
          </a:xfrm>
          <a:prstGeom prst="rect">
            <a:avLst/>
          </a:prstGeom>
          <a:noFill/>
        </p:spPr>
        <p:txBody>
          <a:bodyPr wrap="none" lIns="137160" anchor="ctr">
            <a:spAutoFit/>
          </a:bodyPr>
          <a:lstStyle/>
          <a:p>
            <a:pPr algn="l"/>
            <a:r>
              <a:rPr sz="1400" b="1">
                <a:solidFill>
                  <a:srgbClr val="FFFFFF"/>
                </a:solidFill>
                <a:latin typeface="Calibri"/>
              </a:rPr>
              <a:t>3. Software-Stack Wall</a:t>
            </a:r>
          </a:p>
        </p:txBody>
      </p:sp>
      <p:sp>
        <p:nvSpPr>
          <p:cNvPr id="15" name="TextBox 14"/>
          <p:cNvSpPr txBox="1"/>
          <p:nvPr/>
        </p:nvSpPr>
        <p:spPr>
          <a:xfrm>
            <a:off x="8183880" y="2011680"/>
            <a:ext cx="3383280" cy="2788920"/>
          </a:xfrm>
          <a:prstGeom prst="rect">
            <a:avLst/>
          </a:prstGeom>
          <a:noFill/>
        </p:spPr>
        <p:txBody>
          <a:bodyPr wrap="square">
            <a:spAutoFit/>
          </a:bodyPr>
          <a:lstStyle/>
          <a:p>
            <a:pPr algn="l">
              <a:spcAft>
                <a:spcPts val="200"/>
              </a:spcAft>
            </a:pPr>
            <a:r>
              <a:rPr sz="1200" b="1">
                <a:solidFill>
                  <a:srgbClr val="76B900"/>
                </a:solidFill>
              </a:rPr>
              <a:t>▶  </a:t>
            </a:r>
            <a:r>
              <a:rPr sz="1200">
                <a:solidFill>
                  <a:srgbClr val="28282D"/>
                </a:solidFill>
                <a:latin typeface="Calibri"/>
              </a:rPr>
              <a:t>Vendor SDPA backend dispatch is build-dependent.</a:t>
            </a:r>
          </a:p>
          <a:p>
            <a:pPr algn="l">
              <a:spcAft>
                <a:spcPts val="200"/>
              </a:spcAft>
            </a:pPr>
            <a:r>
              <a:rPr sz="1200" b="1">
                <a:solidFill>
                  <a:srgbClr val="76B900"/>
                </a:solidFill>
              </a:rPr>
              <a:t>▶  </a:t>
            </a:r>
            <a:r>
              <a:rPr sz="1200">
                <a:solidFill>
                  <a:srgbClr val="28282D"/>
                </a:solidFill>
                <a:latin typeface="Calibri"/>
              </a:rPr>
              <a:t>Some PyTorch wheels (e.g. Windows + sm_120) silently fall back to MATH backend — no FlashAttention.</a:t>
            </a:r>
          </a:p>
          <a:p>
            <a:pPr algn="l">
              <a:spcAft>
                <a:spcPts val="200"/>
              </a:spcAft>
            </a:pPr>
            <a:r>
              <a:rPr sz="1200" b="1">
                <a:solidFill>
                  <a:srgbClr val="76B900"/>
                </a:solidFill>
              </a:rPr>
              <a:t>▶  </a:t>
            </a:r>
            <a:r>
              <a:rPr sz="1200">
                <a:solidFill>
                  <a:srgbClr val="28282D"/>
                </a:solidFill>
                <a:latin typeface="Calibri"/>
              </a:rPr>
              <a:t>FA3 backend not yet first-classed on consumer Blackwell (vLLM #14452).</a:t>
            </a:r>
          </a:p>
          <a:p>
            <a:pPr algn="l">
              <a:spcAft>
                <a:spcPts val="200"/>
              </a:spcAft>
            </a:pPr>
            <a:r>
              <a:rPr sz="1200" b="1">
                <a:solidFill>
                  <a:srgbClr val="76B900"/>
                </a:solidFill>
              </a:rPr>
              <a:t>▶  </a:t>
            </a:r>
            <a:r>
              <a:rPr sz="1200">
                <a:solidFill>
                  <a:srgbClr val="28282D"/>
                </a:solidFill>
                <a:latin typeface="Calibri"/>
              </a:rPr>
              <a:t>TransformerEngine has explicit FP8-attention skip lists (TE #2186).</a:t>
            </a:r>
          </a:p>
        </p:txBody>
      </p:sp>
      <p:sp>
        <p:nvSpPr>
          <p:cNvPr id="16" name="TextBox 15"/>
          <p:cNvSpPr txBox="1"/>
          <p:nvPr/>
        </p:nvSpPr>
        <p:spPr>
          <a:xfrm>
            <a:off x="457200" y="5029200"/>
            <a:ext cx="11247120" cy="1371600"/>
          </a:xfrm>
          <a:prstGeom prst="rect">
            <a:avLst/>
          </a:prstGeom>
          <a:noFill/>
        </p:spPr>
        <p:txBody>
          <a:bodyPr wrap="square" lIns="45720" rIns="45720" tIns="18288" bIns="18288" anchor="t">
            <a:spAutoFit/>
          </a:bodyPr>
          <a:lstStyle/>
          <a:p>
            <a:pPr algn="l"/>
            <a:r>
              <a:rPr sz="1400" b="0">
                <a:solidFill>
                  <a:srgbClr val="28282D"/>
                </a:solidFill>
                <a:latin typeface="Calibri"/>
              </a:rPr>
              <a:t>Therefore: training and inference performance on consumer Blackwell is determined by (a) avoiding HBM materialization, (b) engaging Tensor Cores at the narrowest viable precision, and (c) explicitly verifying the vendor backend the framework actually dispatches.</a:t>
            </a:r>
          </a:p>
        </p:txBody>
      </p:sp>
      <p:sp>
        <p:nvSpPr>
          <p:cNvPr id="17" name="Rectangle 16"/>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18" name="TextBox 17"/>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Related Work (1/2) · Algorithmic &amp; Mixed-Precision Attention</a:t>
            </a:r>
          </a:p>
        </p:txBody>
      </p:sp>
      <p:sp>
        <p:nvSpPr>
          <p:cNvPr id="3" name="Rectangle 2"/>
          <p:cNvSpPr/>
          <p:nvPr/>
        </p:nvSpPr>
        <p:spPr>
          <a:xfrm>
            <a:off x="457200" y="1005840"/>
            <a:ext cx="557784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17320"/>
            <a:ext cx="5577840" cy="205740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05840"/>
            <a:ext cx="5577840" cy="411480"/>
          </a:xfrm>
          <a:prstGeom prst="rect">
            <a:avLst/>
          </a:prstGeom>
          <a:noFill/>
        </p:spPr>
        <p:txBody>
          <a:bodyPr wrap="none" lIns="137160" anchor="ctr">
            <a:spAutoFit/>
          </a:bodyPr>
          <a:lstStyle/>
          <a:p>
            <a:pPr algn="l"/>
            <a:r>
              <a:rPr sz="1400" b="1">
                <a:solidFill>
                  <a:srgbClr val="FFFFFF"/>
                </a:solidFill>
                <a:latin typeface="Calibri"/>
              </a:rPr>
              <a:t>FlashAttention lineage</a:t>
            </a:r>
          </a:p>
        </p:txBody>
      </p:sp>
      <p:sp>
        <p:nvSpPr>
          <p:cNvPr id="6" name="TextBox 5"/>
          <p:cNvSpPr txBox="1"/>
          <p:nvPr/>
        </p:nvSpPr>
        <p:spPr>
          <a:xfrm>
            <a:off x="594360" y="1463040"/>
            <a:ext cx="5303520" cy="1965960"/>
          </a:xfrm>
          <a:prstGeom prst="rect">
            <a:avLst/>
          </a:prstGeom>
          <a:noFill/>
        </p:spPr>
        <p:txBody>
          <a:bodyPr wrap="square">
            <a:spAutoFit/>
          </a:bodyPr>
          <a:lstStyle/>
          <a:p>
            <a:pPr algn="l">
              <a:spcAft>
                <a:spcPts val="200"/>
              </a:spcAft>
            </a:pPr>
            <a:r>
              <a:rPr sz="1200" b="1">
                <a:solidFill>
                  <a:srgbClr val="76B900"/>
                </a:solidFill>
              </a:rPr>
              <a:t>▶  </a:t>
            </a:r>
            <a:r>
              <a:rPr sz="1200">
                <a:solidFill>
                  <a:srgbClr val="28282D"/>
                </a:solidFill>
                <a:latin typeface="Calibri"/>
              </a:rPr>
              <a:t>FlashAttention (Dao et al., 2022): IO-aware tiling + online softmax; eliminates N×N materialization.</a:t>
            </a:r>
          </a:p>
          <a:p>
            <a:pPr algn="l">
              <a:spcAft>
                <a:spcPts val="200"/>
              </a:spcAft>
            </a:pPr>
            <a:r>
              <a:rPr sz="1200" b="1">
                <a:solidFill>
                  <a:srgbClr val="76B900"/>
                </a:solidFill>
              </a:rPr>
              <a:t>▶  </a:t>
            </a:r>
            <a:r>
              <a:rPr sz="1200">
                <a:solidFill>
                  <a:srgbClr val="28282D"/>
                </a:solidFill>
                <a:latin typeface="Calibri"/>
              </a:rPr>
              <a:t>FlashAttention-2 (Dao, 2023): improved warp-level work partitioning.</a:t>
            </a:r>
          </a:p>
          <a:p>
            <a:pPr algn="l">
              <a:spcAft>
                <a:spcPts val="200"/>
              </a:spcAft>
            </a:pPr>
            <a:r>
              <a:rPr sz="1200" b="1">
                <a:solidFill>
                  <a:srgbClr val="76B900"/>
                </a:solidFill>
              </a:rPr>
              <a:t>▶  </a:t>
            </a:r>
            <a:r>
              <a:rPr sz="1200">
                <a:solidFill>
                  <a:srgbClr val="28282D"/>
                </a:solidFill>
                <a:latin typeface="Calibri"/>
              </a:rPr>
              <a:t>FlashAttention-3 (Shah et al., 2024): Hopper-specific TMA pipelining + FP8 — does NOT transfer to consumer Blackwell (no TMA on sm_120a).</a:t>
            </a:r>
          </a:p>
          <a:p>
            <a:pPr algn="l">
              <a:spcAft>
                <a:spcPts val="200"/>
              </a:spcAft>
            </a:pPr>
            <a:r>
              <a:rPr sz="1200" b="1">
                <a:solidFill>
                  <a:srgbClr val="76B900"/>
                </a:solidFill>
              </a:rPr>
              <a:t>▶  </a:t>
            </a:r>
            <a:r>
              <a:rPr sz="1200">
                <a:solidFill>
                  <a:srgbClr val="28282D"/>
                </a:solidFill>
                <a:latin typeface="Calibri"/>
              </a:rPr>
              <a:t>FlexAttention (Dong et al., 2025): compiler-level alternative via torch.compile.</a:t>
            </a:r>
          </a:p>
        </p:txBody>
      </p:sp>
      <p:sp>
        <p:nvSpPr>
          <p:cNvPr id="7" name="Rectangle 6"/>
          <p:cNvSpPr/>
          <p:nvPr/>
        </p:nvSpPr>
        <p:spPr>
          <a:xfrm>
            <a:off x="6172200" y="1005840"/>
            <a:ext cx="557784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2200" y="1417320"/>
            <a:ext cx="5577840" cy="205740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005840"/>
            <a:ext cx="5577840" cy="411480"/>
          </a:xfrm>
          <a:prstGeom prst="rect">
            <a:avLst/>
          </a:prstGeom>
          <a:noFill/>
        </p:spPr>
        <p:txBody>
          <a:bodyPr wrap="none" lIns="137160" anchor="ctr">
            <a:spAutoFit/>
          </a:bodyPr>
          <a:lstStyle/>
          <a:p>
            <a:pPr algn="l"/>
            <a:r>
              <a:rPr sz="1400" b="1">
                <a:solidFill>
                  <a:srgbClr val="FFFFFF"/>
                </a:solidFill>
                <a:latin typeface="Calibri"/>
              </a:rPr>
              <a:t>Mixed-precision attention (positive)</a:t>
            </a:r>
          </a:p>
        </p:txBody>
      </p:sp>
      <p:sp>
        <p:nvSpPr>
          <p:cNvPr id="10" name="TextBox 9"/>
          <p:cNvSpPr txBox="1"/>
          <p:nvPr/>
        </p:nvSpPr>
        <p:spPr>
          <a:xfrm>
            <a:off x="6309360" y="1463040"/>
            <a:ext cx="5303520" cy="1965960"/>
          </a:xfrm>
          <a:prstGeom prst="rect">
            <a:avLst/>
          </a:prstGeom>
          <a:noFill/>
        </p:spPr>
        <p:txBody>
          <a:bodyPr wrap="square">
            <a:spAutoFit/>
          </a:bodyPr>
          <a:lstStyle/>
          <a:p>
            <a:pPr algn="l">
              <a:spcAft>
                <a:spcPts val="200"/>
              </a:spcAft>
            </a:pPr>
            <a:r>
              <a:rPr sz="1200" b="1">
                <a:solidFill>
                  <a:srgbClr val="76B900"/>
                </a:solidFill>
              </a:rPr>
              <a:t>▶  </a:t>
            </a:r>
            <a:r>
              <a:rPr sz="1200">
                <a:solidFill>
                  <a:srgbClr val="28282D"/>
                </a:solidFill>
                <a:latin typeface="Calibri"/>
              </a:rPr>
              <a:t>Micikevicius et al. (2022): defined E4M3 / E5M2 FP8 formats; foundational for FP8 attention.</a:t>
            </a:r>
          </a:p>
          <a:p>
            <a:pPr algn="l">
              <a:spcAft>
                <a:spcPts val="200"/>
              </a:spcAft>
            </a:pPr>
            <a:r>
              <a:rPr sz="1200" b="1">
                <a:solidFill>
                  <a:srgbClr val="76B900"/>
                </a:solidFill>
              </a:rPr>
              <a:t>▶  </a:t>
            </a:r>
            <a:r>
              <a:rPr sz="1200">
                <a:solidFill>
                  <a:srgbClr val="28282D"/>
                </a:solidFill>
                <a:latin typeface="Calibri"/>
              </a:rPr>
              <a:t>SageAttention (Zhang et al., ICLR 2025): first systematic FP8 attention; ≈ 2.1× over FA-2 on Hopper.</a:t>
            </a:r>
          </a:p>
          <a:p>
            <a:pPr algn="l">
              <a:spcAft>
                <a:spcPts val="200"/>
              </a:spcAft>
            </a:pPr>
            <a:r>
              <a:rPr sz="1200" b="1">
                <a:solidFill>
                  <a:srgbClr val="76B900"/>
                </a:solidFill>
              </a:rPr>
              <a:t>▶  </a:t>
            </a:r>
            <a:r>
              <a:rPr sz="1200">
                <a:solidFill>
                  <a:srgbClr val="28282D"/>
                </a:solidFill>
                <a:latin typeface="Calibri"/>
              </a:rPr>
              <a:t>SageAttention3 (Zhang et al., NeurIPS 2025): NVFP4 attention on RTX 5090 using hardware-microscaled mxf4nvf4.m16n8k64 — closest related work.</a:t>
            </a:r>
          </a:p>
        </p:txBody>
      </p:sp>
      <p:sp>
        <p:nvSpPr>
          <p:cNvPr id="11" name="Rectangle 10"/>
          <p:cNvSpPr/>
          <p:nvPr/>
        </p:nvSpPr>
        <p:spPr>
          <a:xfrm>
            <a:off x="457200" y="3657600"/>
            <a:ext cx="1133856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069080"/>
            <a:ext cx="11338560" cy="23317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57600"/>
            <a:ext cx="11338560" cy="411480"/>
          </a:xfrm>
          <a:prstGeom prst="rect">
            <a:avLst/>
          </a:prstGeom>
          <a:noFill/>
        </p:spPr>
        <p:txBody>
          <a:bodyPr wrap="none" lIns="137160" anchor="ctr">
            <a:spAutoFit/>
          </a:bodyPr>
          <a:lstStyle/>
          <a:p>
            <a:pPr algn="l"/>
            <a:r>
              <a:rPr sz="1400" b="1">
                <a:solidFill>
                  <a:srgbClr val="FFFFFF"/>
                </a:solidFill>
                <a:latin typeface="Calibri"/>
              </a:rPr>
              <a:t>Failure-mode literature (where our negative result connects)</a:t>
            </a:r>
          </a:p>
        </p:txBody>
      </p:sp>
      <p:sp>
        <p:nvSpPr>
          <p:cNvPr id="14" name="TextBox 13"/>
          <p:cNvSpPr txBox="1"/>
          <p:nvPr/>
        </p:nvSpPr>
        <p:spPr>
          <a:xfrm>
            <a:off x="594360" y="4114800"/>
            <a:ext cx="11064240" cy="2240280"/>
          </a:xfrm>
          <a:prstGeom prst="rect">
            <a:avLst/>
          </a:prstGeom>
          <a:noFill/>
        </p:spPr>
        <p:txBody>
          <a:bodyPr wrap="square">
            <a:spAutoFit/>
          </a:bodyPr>
          <a:lstStyle/>
          <a:p>
            <a:pPr algn="l">
              <a:spcAft>
                <a:spcPts val="200"/>
              </a:spcAft>
            </a:pPr>
            <a:r>
              <a:rPr sz="1300" b="1">
                <a:solidFill>
                  <a:srgbClr val="76B900"/>
                </a:solidFill>
              </a:rPr>
              <a:t>▶  </a:t>
            </a:r>
            <a:r>
              <a:rPr sz="1300">
                <a:solidFill>
                  <a:srgbClr val="28282D"/>
                </a:solidFill>
                <a:latin typeface="Calibri"/>
              </a:rPr>
              <a:t>Attn-QAT (Zhang et al., 2026): first FP4 quantization-aware training — naive forward+backward recipe is unstable.</a:t>
            </a:r>
          </a:p>
          <a:p>
            <a:pPr algn="l">
              <a:spcAft>
                <a:spcPts val="200"/>
              </a:spcAft>
            </a:pPr>
            <a:r>
              <a:rPr sz="1300" b="1">
                <a:solidFill>
                  <a:srgbClr val="76B900"/>
                </a:solidFill>
              </a:rPr>
              <a:t>▶  </a:t>
            </a:r>
            <a:r>
              <a:rPr sz="1300">
                <a:solidFill>
                  <a:srgbClr val="28282D"/>
                </a:solidFill>
                <a:latin typeface="Calibri"/>
              </a:rPr>
              <a:t>Qiu &amp; Yao (ICLR 2026): mechanistic explanation of low-precision FlashAttention training collapse — low-rank representation + biased rounding accumulation.</a:t>
            </a:r>
          </a:p>
          <a:p>
            <a:pPr algn="l">
              <a:spcAft>
                <a:spcPts val="200"/>
              </a:spcAft>
            </a:pPr>
            <a:r>
              <a:rPr sz="1300" b="1">
                <a:solidFill>
                  <a:srgbClr val="76B900"/>
                </a:solidFill>
              </a:rPr>
              <a:t>▶  </a:t>
            </a:r>
            <a:r>
              <a:rPr sz="1300">
                <a:solidFill>
                  <a:srgbClr val="28282D"/>
                </a:solidFill>
                <a:latin typeface="Calibri"/>
              </a:rPr>
              <a:t>SnapMLA (Zhang et al., 2026): FP8 attention sub-types in MLA decoding require per-component precision retention.</a:t>
            </a:r>
          </a:p>
          <a:p>
            <a:pPr algn="l">
              <a:spcAft>
                <a:spcPts val="200"/>
              </a:spcAft>
            </a:pPr>
            <a:r>
              <a:rPr sz="1300" b="1">
                <a:solidFill>
                  <a:srgbClr val="76B900"/>
                </a:solidFill>
              </a:rPr>
              <a:t>▶  </a:t>
            </a:r>
            <a:r>
              <a:rPr sz="1300">
                <a:solidFill>
                  <a:srgbClr val="28282D"/>
                </a:solidFill>
                <a:latin typeface="Calibri"/>
              </a:rPr>
              <a:t>Our V4 (FP4 with software microscaling) extends this lineage on the inference axis: a quantitative inference-time cost the training-stability work above does not address.</a:t>
            </a:r>
          </a:p>
        </p:txBody>
      </p:sp>
      <p:sp>
        <p:nvSpPr>
          <p:cNvPr id="15" name="Rectangle 14"/>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16" name="TextBox 15"/>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Related Work (2/2) · Consumer-Blackwell Ecosystem</a:t>
            </a:r>
          </a:p>
        </p:txBody>
      </p:sp>
      <p:sp>
        <p:nvSpPr>
          <p:cNvPr id="3" name="TextBox 2"/>
          <p:cNvSpPr txBox="1"/>
          <p:nvPr/>
        </p:nvSpPr>
        <p:spPr>
          <a:xfrm>
            <a:off x="457200" y="1005840"/>
            <a:ext cx="11247120" cy="548640"/>
          </a:xfrm>
          <a:prstGeom prst="rect">
            <a:avLst/>
          </a:prstGeom>
          <a:noFill/>
        </p:spPr>
        <p:txBody>
          <a:bodyPr wrap="square" lIns="45720" rIns="45720" tIns="18288" bIns="18288" anchor="t">
            <a:spAutoFit/>
          </a:bodyPr>
          <a:lstStyle/>
          <a:p>
            <a:pPr algn="l"/>
            <a:r>
              <a:rPr sz="1500" b="1">
                <a:solidFill>
                  <a:srgbClr val="A8002B"/>
                </a:solidFill>
                <a:latin typeface="Calibri"/>
              </a:rPr>
              <a:t>The consumer-Blackwell software stack is genuinely immature — a pattern across multiple projects:</a:t>
            </a:r>
          </a:p>
        </p:txBody>
      </p:sp>
      <p:sp>
        <p:nvSpPr>
          <p:cNvPr id="4" name="Rectangle 3"/>
          <p:cNvSpPr/>
          <p:nvPr/>
        </p:nvSpPr>
        <p:spPr>
          <a:xfrm>
            <a:off x="457200" y="1691640"/>
            <a:ext cx="685800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2103120"/>
            <a:ext cx="6858000" cy="28803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691640"/>
            <a:ext cx="6858000" cy="411480"/>
          </a:xfrm>
          <a:prstGeom prst="rect">
            <a:avLst/>
          </a:prstGeom>
          <a:noFill/>
        </p:spPr>
        <p:txBody>
          <a:bodyPr wrap="none" lIns="137160" anchor="ctr">
            <a:spAutoFit/>
          </a:bodyPr>
          <a:lstStyle/>
          <a:p>
            <a:pPr algn="l"/>
            <a:r>
              <a:rPr sz="1400" b="1">
                <a:solidFill>
                  <a:srgbClr val="FFFFFF"/>
                </a:solidFill>
                <a:latin typeface="Calibri"/>
              </a:rPr>
              <a:t>Public issue trackers documenting the immaturity</a:t>
            </a:r>
          </a:p>
        </p:txBody>
      </p:sp>
      <p:sp>
        <p:nvSpPr>
          <p:cNvPr id="7" name="TextBox 6"/>
          <p:cNvSpPr txBox="1"/>
          <p:nvPr/>
        </p:nvSpPr>
        <p:spPr>
          <a:xfrm>
            <a:off x="594360" y="2148840"/>
            <a:ext cx="6583680" cy="2788920"/>
          </a:xfrm>
          <a:prstGeom prst="rect">
            <a:avLst/>
          </a:prstGeom>
          <a:noFill/>
        </p:spPr>
        <p:txBody>
          <a:bodyPr wrap="square">
            <a:spAutoFit/>
          </a:bodyPr>
          <a:lstStyle/>
          <a:p>
            <a:pPr algn="l">
              <a:spcAft>
                <a:spcPts val="200"/>
              </a:spcAft>
            </a:pPr>
            <a:r>
              <a:rPr sz="1100" b="1">
                <a:solidFill>
                  <a:srgbClr val="76B900"/>
                </a:solidFill>
              </a:rPr>
              <a:t>▶  </a:t>
            </a:r>
            <a:r>
              <a:rPr sz="1100">
                <a:solidFill>
                  <a:srgbClr val="28282D"/>
                </a:solidFill>
                <a:latin typeface="Calibri"/>
              </a:rPr>
              <a:t>vLLM #14452 — FA-3 backend not yet working with Blackwell; specific CUDA 12.8 + container required.</a:t>
            </a:r>
          </a:p>
          <a:p>
            <a:pPr algn="l">
              <a:spcAft>
                <a:spcPts val="200"/>
              </a:spcAft>
            </a:pPr>
            <a:r>
              <a:rPr sz="1100" b="1">
                <a:solidFill>
                  <a:srgbClr val="76B900"/>
                </a:solidFill>
              </a:rPr>
              <a:t>▶  </a:t>
            </a:r>
            <a:r>
              <a:rPr sz="1100">
                <a:solidFill>
                  <a:srgbClr val="28282D"/>
                </a:solidFill>
                <a:latin typeface="Calibri"/>
              </a:rPr>
              <a:t>vLLM #29030 — vLLM 0.11.1 + CUDA 13 fails with undefined symbol; SM 12.0 (consumer) is NOT a superset of SM 10.0 (datacenter).</a:t>
            </a:r>
          </a:p>
          <a:p>
            <a:pPr algn="l">
              <a:spcAft>
                <a:spcPts val="200"/>
              </a:spcAft>
            </a:pPr>
            <a:r>
              <a:rPr sz="1100" b="1">
                <a:solidFill>
                  <a:srgbClr val="76B900"/>
                </a:solidFill>
              </a:rPr>
              <a:t>▶  </a:t>
            </a:r>
            <a:r>
              <a:rPr sz="1100">
                <a:solidFill>
                  <a:srgbClr val="28282D"/>
                </a:solidFill>
                <a:latin typeface="Calibri"/>
              </a:rPr>
              <a:t>vLLM #30707 — RTX 5080 + NVFP4 model rejected by overly-aggressive 16 GB pre-flight check, despite fitting.</a:t>
            </a:r>
          </a:p>
          <a:p>
            <a:pPr algn="l">
              <a:spcAft>
                <a:spcPts val="200"/>
              </a:spcAft>
            </a:pPr>
            <a:r>
              <a:rPr sz="1100" b="1">
                <a:solidFill>
                  <a:srgbClr val="76B900"/>
                </a:solidFill>
              </a:rPr>
              <a:t>▶  </a:t>
            </a:r>
            <a:r>
              <a:rPr sz="1100">
                <a:solidFill>
                  <a:srgbClr val="28282D"/>
                </a:solidFill>
                <a:latin typeface="Calibri"/>
              </a:rPr>
              <a:t>TransformerEngine #2186 — FP8 attention test-suite skip list (THD layout, bias, sliding window, MLA-CP).</a:t>
            </a:r>
          </a:p>
          <a:p>
            <a:pPr algn="l">
              <a:spcAft>
                <a:spcPts val="200"/>
              </a:spcAft>
            </a:pPr>
            <a:r>
              <a:rPr sz="1100" b="1">
                <a:solidFill>
                  <a:srgbClr val="76B900"/>
                </a:solidFill>
              </a:rPr>
              <a:t>▶  </a:t>
            </a:r>
            <a:r>
              <a:rPr sz="1100">
                <a:solidFill>
                  <a:srgbClr val="28282D"/>
                </a:solidFill>
                <a:latin typeface="Calibri"/>
              </a:rPr>
              <a:t>FlashInfer/vLLM #35138 — Blackwell FP8 attention correctness regression; recommended fix is backend switch.</a:t>
            </a:r>
          </a:p>
        </p:txBody>
      </p:sp>
      <p:sp>
        <p:nvSpPr>
          <p:cNvPr id="8" name="Rectangle 7"/>
          <p:cNvSpPr/>
          <p:nvPr/>
        </p:nvSpPr>
        <p:spPr>
          <a:xfrm>
            <a:off x="7452360" y="1691640"/>
            <a:ext cx="429768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2103120"/>
            <a:ext cx="4297680" cy="28803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1691640"/>
            <a:ext cx="4297680" cy="411480"/>
          </a:xfrm>
          <a:prstGeom prst="rect">
            <a:avLst/>
          </a:prstGeom>
          <a:noFill/>
        </p:spPr>
        <p:txBody>
          <a:bodyPr wrap="none" lIns="137160" anchor="ctr">
            <a:spAutoFit/>
          </a:bodyPr>
          <a:lstStyle/>
          <a:p>
            <a:pPr algn="l"/>
            <a:r>
              <a:rPr sz="1400" b="1">
                <a:solidFill>
                  <a:srgbClr val="FFFFFF"/>
                </a:solidFill>
                <a:latin typeface="Calibri"/>
              </a:rPr>
              <a:t>Adjacent consumer-Blackwell papers</a:t>
            </a:r>
          </a:p>
        </p:txBody>
      </p:sp>
      <p:sp>
        <p:nvSpPr>
          <p:cNvPr id="11" name="TextBox 10"/>
          <p:cNvSpPr txBox="1"/>
          <p:nvPr/>
        </p:nvSpPr>
        <p:spPr>
          <a:xfrm>
            <a:off x="7589520" y="2148840"/>
            <a:ext cx="4023360" cy="2788920"/>
          </a:xfrm>
          <a:prstGeom prst="rect">
            <a:avLst/>
          </a:prstGeom>
          <a:noFill/>
        </p:spPr>
        <p:txBody>
          <a:bodyPr wrap="square">
            <a:spAutoFit/>
          </a:bodyPr>
          <a:lstStyle/>
          <a:p>
            <a:pPr algn="l">
              <a:spcAft>
                <a:spcPts val="200"/>
              </a:spcAft>
            </a:pPr>
            <a:r>
              <a:rPr sz="1100" b="1">
                <a:solidFill>
                  <a:srgbClr val="76B900"/>
                </a:solidFill>
              </a:rPr>
              <a:t>▶  </a:t>
            </a:r>
            <a:r>
              <a:rPr sz="1100">
                <a:solidFill>
                  <a:srgbClr val="28282D"/>
                </a:solidFill>
                <a:latin typeface="Calibri"/>
              </a:rPr>
              <a:t>SlideSparse (Shao et al., 2026) — uses RTX 5080 as a sparse-GEMM evaluation platform, NOT as an attention target.</a:t>
            </a:r>
          </a:p>
          <a:p>
            <a:pPr algn="l">
              <a:spcAft>
                <a:spcPts val="200"/>
              </a:spcAft>
            </a:pPr>
            <a:r>
              <a:rPr sz="1100" b="1">
                <a:solidFill>
                  <a:srgbClr val="76B900"/>
                </a:solidFill>
              </a:rPr>
              <a:t>▶  </a:t>
            </a:r>
            <a:r>
              <a:rPr sz="1100">
                <a:solidFill>
                  <a:srgbClr val="28282D"/>
                </a:solidFill>
                <a:latin typeface="Calibri"/>
              </a:rPr>
              <a:t>Knoop &amp; Holtmann (2026) — consumer-Blackwell LLM deployment study; covers RTX 5060 Ti, 5070 Ti, 5090 — explicitly OMITS the 5080.</a:t>
            </a:r>
          </a:p>
          <a:p>
            <a:pPr algn="l">
              <a:spcAft>
                <a:spcPts val="200"/>
              </a:spcAft>
            </a:pPr>
            <a:r>
              <a:rPr sz="1100" b="1">
                <a:solidFill>
                  <a:srgbClr val="76B900"/>
                </a:solidFill>
              </a:rPr>
              <a:t>▶  </a:t>
            </a:r>
            <a:r>
              <a:rPr sz="1100">
                <a:solidFill>
                  <a:srgbClr val="28282D"/>
                </a:solidFill>
                <a:latin typeface="Calibri"/>
              </a:rPr>
              <a:t>Triton fused-attention tutorial — Blackwell branch gated on a `major == 10` runtime check; sm_120a not first-classed.</a:t>
            </a:r>
          </a:p>
        </p:txBody>
      </p:sp>
      <p:sp>
        <p:nvSpPr>
          <p:cNvPr id="12" name="Rectangle 11"/>
          <p:cNvSpPr/>
          <p:nvPr/>
        </p:nvSpPr>
        <p:spPr>
          <a:xfrm>
            <a:off x="457200" y="5120640"/>
            <a:ext cx="11338560" cy="411480"/>
          </a:xfrm>
          <a:prstGeom prst="rect">
            <a:avLst/>
          </a:prstGeom>
          <a:solidFill>
            <a:srgbClr val="4B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532120"/>
            <a:ext cx="11338560" cy="960120"/>
          </a:xfrm>
          <a:prstGeom prst="rect">
            <a:avLst/>
          </a:prstGeom>
          <a:solidFill>
            <a:srgbClr val="C8E6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120640"/>
            <a:ext cx="11338560" cy="411480"/>
          </a:xfrm>
          <a:prstGeom prst="rect">
            <a:avLst/>
          </a:prstGeom>
          <a:noFill/>
        </p:spPr>
        <p:txBody>
          <a:bodyPr wrap="none" lIns="137160" anchor="ctr">
            <a:spAutoFit/>
          </a:bodyPr>
          <a:lstStyle/>
          <a:p>
            <a:pPr algn="l"/>
            <a:r>
              <a:rPr sz="1400" b="1">
                <a:solidFill>
                  <a:srgbClr val="FFFFFF"/>
                </a:solidFill>
                <a:latin typeface="Calibri"/>
              </a:rPr>
              <a:t>Our finding adds one data point to this pattern</a:t>
            </a:r>
          </a:p>
        </p:txBody>
      </p:sp>
      <p:sp>
        <p:nvSpPr>
          <p:cNvPr id="15" name="TextBox 14"/>
          <p:cNvSpPr txBox="1"/>
          <p:nvPr/>
        </p:nvSpPr>
        <p:spPr>
          <a:xfrm>
            <a:off x="594360" y="5577840"/>
            <a:ext cx="11064240" cy="868680"/>
          </a:xfrm>
          <a:prstGeom prst="rect">
            <a:avLst/>
          </a:prstGeom>
          <a:noFill/>
        </p:spPr>
        <p:txBody>
          <a:bodyPr wrap="square">
            <a:spAutoFit/>
          </a:bodyPr>
          <a:lstStyle/>
          <a:p>
            <a:pPr algn="l">
              <a:spcAft>
                <a:spcPts val="200"/>
              </a:spcAft>
            </a:pPr>
            <a:r>
              <a:rPr sz="1200" b="1">
                <a:solidFill>
                  <a:srgbClr val="76B900"/>
                </a:solidFill>
              </a:rPr>
              <a:t>▶  </a:t>
            </a:r>
            <a:r>
              <a:rPr sz="1200">
                <a:solidFill>
                  <a:srgbClr val="28282D"/>
                </a:solidFill>
                <a:latin typeface="Calibri"/>
              </a:rPr>
              <a:t>PyTorch 2.9.1+cu128 Windows wheel dispatches SDPA exclusively to the MATH backend on sm_120 / FP16 / non-causal — Flash, cuDNN, MemEff are all runtime-disabled. The vendor 'SDPA baseline' is therefore a moving target.</a:t>
            </a:r>
          </a:p>
        </p:txBody>
      </p:sp>
      <p:sp>
        <p:nvSpPr>
          <p:cNvPr id="16" name="Rectangle 15"/>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17" name="TextBox 16"/>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From Related Work to Our Experiments</a:t>
            </a:r>
          </a:p>
        </p:txBody>
      </p:sp>
      <p:sp>
        <p:nvSpPr>
          <p:cNvPr id="3" name="TextBox 2"/>
          <p:cNvSpPr txBox="1"/>
          <p:nvPr/>
        </p:nvSpPr>
        <p:spPr>
          <a:xfrm>
            <a:off x="457200" y="1005840"/>
            <a:ext cx="11247120" cy="548640"/>
          </a:xfrm>
          <a:prstGeom prst="rect">
            <a:avLst/>
          </a:prstGeom>
          <a:noFill/>
        </p:spPr>
        <p:txBody>
          <a:bodyPr wrap="square" lIns="45720" rIns="45720" tIns="18288" bIns="18288" anchor="t">
            <a:spAutoFit/>
          </a:bodyPr>
          <a:lstStyle/>
          <a:p>
            <a:pPr algn="l"/>
            <a:r>
              <a:rPr sz="1800" b="1">
                <a:solidFill>
                  <a:srgbClr val="A8002B"/>
                </a:solidFill>
                <a:latin typeface="Calibri"/>
              </a:rPr>
              <a:t>The gap and our contribution:</a:t>
            </a:r>
          </a:p>
        </p:txBody>
      </p:sp>
      <p:sp>
        <p:nvSpPr>
          <p:cNvPr id="4" name="TextBox 3"/>
          <p:cNvSpPr txBox="1"/>
          <p:nvPr/>
        </p:nvSpPr>
        <p:spPr>
          <a:xfrm>
            <a:off x="457200" y="1645920"/>
            <a:ext cx="11247120" cy="2194560"/>
          </a:xfrm>
          <a:prstGeom prst="rect">
            <a:avLst/>
          </a:prstGeom>
          <a:noFill/>
        </p:spPr>
        <p:txBody>
          <a:bodyPr wrap="square" lIns="45720" rIns="45720">
            <a:spAutoFit/>
          </a:bodyPr>
          <a:lstStyle/>
          <a:p>
            <a:pPr algn="l">
              <a:spcAft>
                <a:spcPts val="400"/>
              </a:spcAft>
            </a:pPr>
            <a:r>
              <a:rPr sz="1400" b="1">
                <a:solidFill>
                  <a:srgbClr val="76B900"/>
                </a:solidFill>
                <a:latin typeface="Calibri"/>
              </a:rPr>
              <a:t>▶  </a:t>
            </a:r>
            <a:r>
              <a:rPr sz="1400">
                <a:solidFill>
                  <a:srgbClr val="28282D"/>
                </a:solidFill>
                <a:latin typeface="Calibri"/>
              </a:rPr>
              <a:t>RTX 5080 (mid-tier consumer Blackwell, sm_120a) is essentially absent from kernel-level attention literature.</a:t>
            </a:r>
          </a:p>
          <a:p>
            <a:pPr algn="l" lvl="1">
              <a:spcAft>
                <a:spcPts val="200"/>
              </a:spcAft>
            </a:pPr>
            <a:r>
              <a:rPr sz="1200" b="1">
                <a:solidFill>
                  <a:srgbClr val="4B7800"/>
                </a:solidFill>
                <a:latin typeface="Calibri"/>
              </a:rPr>
              <a:t>·  </a:t>
            </a:r>
            <a:r>
              <a:rPr sz="1200">
                <a:solidFill>
                  <a:srgbClr val="28282D"/>
                </a:solidFill>
                <a:latin typeface="Calibri"/>
              </a:rPr>
              <a:t>Same compute capability as RTX 5090, but half the SMs, narrower memory bus, tighter VRAM.</a:t>
            </a:r>
          </a:p>
          <a:p>
            <a:pPr algn="l" lvl="1">
              <a:spcAft>
                <a:spcPts val="200"/>
              </a:spcAft>
            </a:pPr>
            <a:r>
              <a:rPr sz="1200" b="1">
                <a:solidFill>
                  <a:srgbClr val="4B7800"/>
                </a:solidFill>
                <a:latin typeface="Calibri"/>
              </a:rPr>
              <a:t>·  </a:t>
            </a:r>
            <a:r>
              <a:rPr sz="1200">
                <a:solidFill>
                  <a:srgbClr val="28282D"/>
                </a:solidFill>
                <a:latin typeface="Calibri"/>
              </a:rPr>
              <a:t>Adjacent papers either cover other SKUs (5060 Ti, 5070 Ti, 5090) or use 5080 for non-attention workloads (sparse GEMM).</a:t>
            </a:r>
          </a:p>
          <a:p>
            <a:pPr algn="l">
              <a:spcAft>
                <a:spcPts val="400"/>
              </a:spcAft>
            </a:pPr>
            <a:r>
              <a:rPr sz="1400" b="1">
                <a:solidFill>
                  <a:srgbClr val="76B900"/>
                </a:solidFill>
                <a:latin typeface="Calibri"/>
              </a:rPr>
              <a:t>▶  </a:t>
            </a:r>
            <a:r>
              <a:rPr sz="1400">
                <a:solidFill>
                  <a:srgbClr val="28282D"/>
                </a:solidFill>
                <a:latin typeface="Calibri"/>
              </a:rPr>
              <a:t>Existing FP4 attention work (SageAttention3, Attn-QAT) presents a single optimized kernel — per-step contributions of fusion / FP8 / FP4 are not separable.</a:t>
            </a:r>
          </a:p>
        </p:txBody>
      </p:sp>
      <p:sp>
        <p:nvSpPr>
          <p:cNvPr id="5" name="Rectangle 4"/>
          <p:cNvSpPr/>
          <p:nvPr/>
        </p:nvSpPr>
        <p:spPr>
          <a:xfrm>
            <a:off x="457200" y="4023360"/>
            <a:ext cx="11338560" cy="411480"/>
          </a:xfrm>
          <a:prstGeom prst="rect">
            <a:avLst/>
          </a:prstGeom>
          <a:solidFill>
            <a:srgbClr val="4B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4434840"/>
            <a:ext cx="11338560" cy="1965960"/>
          </a:xfrm>
          <a:prstGeom prst="rect">
            <a:avLst/>
          </a:prstGeom>
          <a:solidFill>
            <a:srgbClr val="C8E6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023360"/>
            <a:ext cx="11338560" cy="411480"/>
          </a:xfrm>
          <a:prstGeom prst="rect">
            <a:avLst/>
          </a:prstGeom>
          <a:noFill/>
        </p:spPr>
        <p:txBody>
          <a:bodyPr wrap="none" lIns="137160" anchor="ctr">
            <a:spAutoFit/>
          </a:bodyPr>
          <a:lstStyle/>
          <a:p>
            <a:pPr algn="l"/>
            <a:r>
              <a:rPr sz="1400" b="1">
                <a:solidFill>
                  <a:srgbClr val="FFFFFF"/>
                </a:solidFill>
                <a:latin typeface="Calibri"/>
              </a:rPr>
              <a:t>Our experimental approach: a controlled, five-point ladder ablation</a:t>
            </a:r>
          </a:p>
        </p:txBody>
      </p:sp>
      <p:sp>
        <p:nvSpPr>
          <p:cNvPr id="8" name="TextBox 7"/>
          <p:cNvSpPr txBox="1"/>
          <p:nvPr/>
        </p:nvSpPr>
        <p:spPr>
          <a:xfrm>
            <a:off x="594360" y="4480560"/>
            <a:ext cx="11064240" cy="1874520"/>
          </a:xfrm>
          <a:prstGeom prst="rect">
            <a:avLst/>
          </a:prstGeom>
          <a:noFill/>
        </p:spPr>
        <p:txBody>
          <a:bodyPr wrap="square">
            <a:spAutoFit/>
          </a:bodyPr>
          <a:lstStyle/>
          <a:p>
            <a:pPr algn="l">
              <a:spcAft>
                <a:spcPts val="200"/>
              </a:spcAft>
            </a:pPr>
            <a:r>
              <a:rPr sz="1400" b="1">
                <a:solidFill>
                  <a:srgbClr val="76B900"/>
                </a:solidFill>
              </a:rPr>
              <a:t>▶  </a:t>
            </a:r>
            <a:r>
              <a:rPr sz="1400">
                <a:solidFill>
                  <a:srgbClr val="28282D"/>
                </a:solidFill>
                <a:latin typeface="Calibri"/>
              </a:rPr>
              <a:t>Five hand-rolled CUDA kernels share ONE algorithmic skeleton (online softmax, single-kernel fusion, register-resident accumulator from V3 onward).</a:t>
            </a:r>
          </a:p>
          <a:p>
            <a:pPr algn="l">
              <a:spcAft>
                <a:spcPts val="200"/>
              </a:spcAft>
            </a:pPr>
            <a:r>
              <a:rPr sz="1400" b="1">
                <a:solidFill>
                  <a:srgbClr val="76B900"/>
                </a:solidFill>
              </a:rPr>
              <a:t>▶  </a:t>
            </a:r>
            <a:r>
              <a:rPr sz="1400">
                <a:solidFill>
                  <a:srgbClr val="28282D"/>
                </a:solidFill>
                <a:latin typeface="Calibri"/>
              </a:rPr>
              <a:t>Each kernel changes EXACTLY ONE design choice against its predecessor — fusion, precision, or microscaling granularity.</a:t>
            </a:r>
          </a:p>
          <a:p>
            <a:pPr algn="l">
              <a:spcAft>
                <a:spcPts val="200"/>
              </a:spcAft>
            </a:pPr>
            <a:r>
              <a:rPr sz="1400" b="1">
                <a:solidFill>
                  <a:srgbClr val="76B900"/>
                </a:solidFill>
              </a:rPr>
              <a:t>▶  </a:t>
            </a:r>
            <a:r>
              <a:rPr sz="1400">
                <a:solidFill>
                  <a:srgbClr val="28282D"/>
                </a:solidFill>
                <a:latin typeface="Calibri"/>
              </a:rPr>
              <a:t>Result: each step's contribution to latency / memory / accuracy is measurable in isolation, on the same hardware/software stack.</a:t>
            </a:r>
          </a:p>
          <a:p>
            <a:pPr algn="l">
              <a:spcAft>
                <a:spcPts val="200"/>
              </a:spcAft>
            </a:pPr>
            <a:r>
              <a:rPr sz="1400" b="1">
                <a:solidFill>
                  <a:srgbClr val="76B900"/>
                </a:solidFill>
              </a:rPr>
              <a:t>▶  </a:t>
            </a:r>
            <a:r>
              <a:rPr sz="1400">
                <a:solidFill>
                  <a:srgbClr val="28282D"/>
                </a:solidFill>
                <a:latin typeface="Calibri"/>
              </a:rPr>
              <a:t>All five variants ship as a reproducible artifact — 495 passing correctness tests against an FP32 reference.</a:t>
            </a:r>
          </a:p>
        </p:txBody>
      </p:sp>
      <p:sp>
        <p:nvSpPr>
          <p:cNvPr id="9" name="Rectangle 8"/>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10" name="TextBox 9"/>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Pipelines V0 → V1 → V2 · What changed, what we noticed</a:t>
            </a:r>
          </a:p>
        </p:txBody>
      </p:sp>
      <p:sp>
        <p:nvSpPr>
          <p:cNvPr id="3" name="Rectangle 2"/>
          <p:cNvSpPr/>
          <p:nvPr/>
        </p:nvSpPr>
        <p:spPr>
          <a:xfrm>
            <a:off x="365760" y="1005840"/>
            <a:ext cx="370332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417320"/>
            <a:ext cx="3703320" cy="41605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3703320" cy="411480"/>
          </a:xfrm>
          <a:prstGeom prst="rect">
            <a:avLst/>
          </a:prstGeom>
          <a:noFill/>
        </p:spPr>
        <p:txBody>
          <a:bodyPr wrap="none" lIns="137160" anchor="ctr">
            <a:spAutoFit/>
          </a:bodyPr>
          <a:lstStyle/>
          <a:p>
            <a:pPr algn="l"/>
            <a:r>
              <a:rPr sz="1400" b="1">
                <a:solidFill>
                  <a:srgbClr val="FFFFFF"/>
                </a:solidFill>
                <a:latin typeface="Calibri"/>
              </a:rPr>
              <a:t>V0 — FP32 naive (oracle)</a:t>
            </a:r>
          </a:p>
        </p:txBody>
      </p:sp>
      <p:sp>
        <p:nvSpPr>
          <p:cNvPr id="6" name="TextBox 5"/>
          <p:cNvSpPr txBox="1"/>
          <p:nvPr/>
        </p:nvSpPr>
        <p:spPr>
          <a:xfrm>
            <a:off x="502920" y="1463040"/>
            <a:ext cx="3429000" cy="4069080"/>
          </a:xfrm>
          <a:prstGeom prst="rect">
            <a:avLst/>
          </a:prstGeom>
          <a:noFill/>
        </p:spPr>
        <p:txBody>
          <a:bodyPr wrap="square">
            <a:spAutoFit/>
          </a:bodyPr>
          <a:lstStyle/>
          <a:p>
            <a:pPr algn="l">
              <a:spcAft>
                <a:spcPts val="200"/>
              </a:spcAft>
            </a:pPr>
            <a:r>
              <a:rPr sz="1100" b="1">
                <a:solidFill>
                  <a:srgbClr val="76B900"/>
                </a:solidFill>
              </a:rPr>
              <a:t>▶  </a:t>
            </a:r>
            <a:r>
              <a:rPr sz="1100">
                <a:solidFill>
                  <a:srgbClr val="28282D"/>
                </a:solidFill>
                <a:latin typeface="Calibri"/>
              </a:rPr>
              <a:t>Three separate kernel launches: QKᵀ → softmax → PV.</a:t>
            </a:r>
          </a:p>
          <a:p>
            <a:pPr algn="l">
              <a:spcAft>
                <a:spcPts val="200"/>
              </a:spcAft>
            </a:pPr>
            <a:r>
              <a:rPr sz="1100" b="1">
                <a:solidFill>
                  <a:srgbClr val="76B900"/>
                </a:solidFill>
              </a:rPr>
              <a:t>▶  </a:t>
            </a:r>
            <a:r>
              <a:rPr sz="1100">
                <a:solidFill>
                  <a:srgbClr val="28282D"/>
                </a:solidFill>
                <a:latin typeface="Calibri"/>
              </a:rPr>
              <a:t>Materializes full N×N score matrix S in HBM.</a:t>
            </a:r>
          </a:p>
          <a:p>
            <a:pPr algn="l">
              <a:spcAft>
                <a:spcPts val="200"/>
              </a:spcAft>
            </a:pPr>
            <a:r>
              <a:rPr sz="1100" b="1">
                <a:solidFill>
                  <a:srgbClr val="76B900"/>
                </a:solidFill>
              </a:rPr>
              <a:t>▶  </a:t>
            </a:r>
            <a:r>
              <a:rPr sz="1100">
                <a:solidFill>
                  <a:srgbClr val="28282D"/>
                </a:solidFill>
                <a:latin typeface="Calibri"/>
              </a:rPr>
              <a:t>All FP32 ALU — Tensor Cores not engaged.</a:t>
            </a:r>
          </a:p>
          <a:p>
            <a:pPr algn="l">
              <a:spcAft>
                <a:spcPts val="200"/>
              </a:spcAft>
            </a:pPr>
            <a:r>
              <a:rPr sz="1100" b="1">
                <a:solidFill>
                  <a:srgbClr val="76B900"/>
                </a:solidFill>
              </a:rPr>
              <a:t>▶  </a:t>
            </a:r>
            <a:r>
              <a:rPr sz="1100">
                <a:solidFill>
                  <a:srgbClr val="28282D"/>
                </a:solidFill>
                <a:latin typeface="Calibri"/>
              </a:rPr>
              <a:t>Role: correctness reference for V1..V4.</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Numbers (N=2048, D=128):</a:t>
            </a:r>
          </a:p>
          <a:p>
            <a:pPr algn="l">
              <a:spcAft>
                <a:spcPts val="200"/>
              </a:spcAft>
            </a:pPr>
            <a:r>
              <a:rPr sz="1100" b="1">
                <a:solidFill>
                  <a:srgbClr val="76B900"/>
                </a:solidFill>
              </a:rPr>
              <a:t>▶  </a:t>
            </a:r>
            <a:r>
              <a:rPr sz="1100">
                <a:solidFill>
                  <a:srgbClr val="28282D"/>
                </a:solidFill>
                <a:latin typeface="Calibri"/>
              </a:rPr>
              <a:t>  Latency: ≈ 4500 ms</a:t>
            </a:r>
          </a:p>
          <a:p>
            <a:pPr algn="l">
              <a:spcAft>
                <a:spcPts val="200"/>
              </a:spcAft>
            </a:pPr>
            <a:r>
              <a:rPr sz="1100" b="1">
                <a:solidFill>
                  <a:srgbClr val="76B900"/>
                </a:solidFill>
              </a:rPr>
              <a:t>▶  </a:t>
            </a:r>
            <a:r>
              <a:rPr sz="1100">
                <a:solidFill>
                  <a:srgbClr val="28282D"/>
                </a:solidFill>
                <a:latin typeface="Calibri"/>
              </a:rPr>
              <a:t>  Memory: ≈ 640 MB</a:t>
            </a:r>
          </a:p>
          <a:p>
            <a:pPr algn="l">
              <a:spcAft>
                <a:spcPts val="200"/>
              </a:spcAft>
            </a:pPr>
            <a:r>
              <a:rPr sz="1100" b="1">
                <a:solidFill>
                  <a:srgbClr val="76B900"/>
                </a:solidFill>
              </a:rPr>
              <a:t>▶  </a:t>
            </a:r>
            <a:r>
              <a:rPr sz="1100">
                <a:solidFill>
                  <a:srgbClr val="28282D"/>
                </a:solidFill>
                <a:latin typeface="Calibri"/>
              </a:rPr>
              <a:t>  Tensor Core insns: 0</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Lesson: naive attention is unworkable past tiny N — optimization is mandatory.</a:t>
            </a:r>
          </a:p>
        </p:txBody>
      </p:sp>
      <p:sp>
        <p:nvSpPr>
          <p:cNvPr id="7" name="Rectangle 6"/>
          <p:cNvSpPr/>
          <p:nvPr/>
        </p:nvSpPr>
        <p:spPr>
          <a:xfrm>
            <a:off x="4251960" y="1005840"/>
            <a:ext cx="370332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51960" y="1417320"/>
            <a:ext cx="3703320" cy="41605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1005840"/>
            <a:ext cx="3703320" cy="411480"/>
          </a:xfrm>
          <a:prstGeom prst="rect">
            <a:avLst/>
          </a:prstGeom>
          <a:noFill/>
        </p:spPr>
        <p:txBody>
          <a:bodyPr wrap="none" lIns="137160" anchor="ctr">
            <a:spAutoFit/>
          </a:bodyPr>
          <a:lstStyle/>
          <a:p>
            <a:pPr algn="l"/>
            <a:r>
              <a:rPr sz="1400" b="1">
                <a:solidFill>
                  <a:srgbClr val="FFFFFF"/>
                </a:solidFill>
                <a:latin typeface="Calibri"/>
              </a:rPr>
              <a:t>V1 — FP16 tiled, WMMA</a:t>
            </a:r>
          </a:p>
        </p:txBody>
      </p:sp>
      <p:sp>
        <p:nvSpPr>
          <p:cNvPr id="10" name="TextBox 9"/>
          <p:cNvSpPr txBox="1"/>
          <p:nvPr/>
        </p:nvSpPr>
        <p:spPr>
          <a:xfrm>
            <a:off x="4389120" y="1463040"/>
            <a:ext cx="3429000" cy="4069080"/>
          </a:xfrm>
          <a:prstGeom prst="rect">
            <a:avLst/>
          </a:prstGeom>
          <a:noFill/>
        </p:spPr>
        <p:txBody>
          <a:bodyPr wrap="square">
            <a:spAutoFit/>
          </a:bodyPr>
          <a:lstStyle/>
          <a:p>
            <a:pPr algn="l">
              <a:spcAft>
                <a:spcPts val="200"/>
              </a:spcAft>
            </a:pPr>
            <a:r>
              <a:rPr sz="1100" b="1">
                <a:solidFill>
                  <a:srgbClr val="76B900"/>
                </a:solidFill>
              </a:rPr>
              <a:t>▶  </a:t>
            </a:r>
            <a:r>
              <a:rPr sz="1100">
                <a:solidFill>
                  <a:srgbClr val="28282D"/>
                </a:solidFill>
                <a:latin typeface="Calibri"/>
              </a:rPr>
              <a:t>Same three-launch structure as V0, but FP16 inputs.</a:t>
            </a:r>
          </a:p>
          <a:p>
            <a:pPr algn="l">
              <a:spcAft>
                <a:spcPts val="200"/>
              </a:spcAft>
            </a:pPr>
            <a:r>
              <a:rPr sz="1100" b="1">
                <a:solidFill>
                  <a:srgbClr val="76B900"/>
                </a:solidFill>
              </a:rPr>
              <a:t>▶  </a:t>
            </a:r>
            <a:r>
              <a:rPr sz="1100">
                <a:solidFill>
                  <a:srgbClr val="28282D"/>
                </a:solidFill>
                <a:latin typeface="Calibri"/>
              </a:rPr>
              <a:t>Both matmuls go through nvcuda::wmma → HMMA.16816.F32 Tensor Cores.</a:t>
            </a:r>
          </a:p>
          <a:p>
            <a:pPr algn="l">
              <a:spcAft>
                <a:spcPts val="200"/>
              </a:spcAft>
            </a:pPr>
            <a:r>
              <a:rPr sz="1100" b="1">
                <a:solidFill>
                  <a:srgbClr val="76B900"/>
                </a:solidFill>
              </a:rPr>
              <a:t>▶  </a:t>
            </a:r>
            <a:r>
              <a:rPr sz="1100">
                <a:solidFill>
                  <a:srgbClr val="28282D"/>
                </a:solidFill>
                <a:latin typeface="Calibri"/>
              </a:rPr>
              <a:t>Trick #1: QKᵀ without explicit transpose — load K as col-major operand.</a:t>
            </a:r>
          </a:p>
          <a:p>
            <a:pPr algn="l">
              <a:spcAft>
                <a:spcPts val="200"/>
              </a:spcAft>
            </a:pPr>
            <a:r>
              <a:rPr sz="1100" b="1">
                <a:solidFill>
                  <a:srgbClr val="76B900"/>
                </a:solidFill>
              </a:rPr>
              <a:t>▶  </a:t>
            </a:r>
            <a:r>
              <a:rPr sz="1100">
                <a:solidFill>
                  <a:srgbClr val="28282D"/>
                </a:solidFill>
                <a:latin typeface="Calibri"/>
              </a:rPr>
              <a:t>Trick #2: single dynamic SMEM allocation (48 KB cap budget).</a:t>
            </a:r>
          </a:p>
          <a:p>
            <a:pPr algn="l">
              <a:spcAft>
                <a:spcPts val="200"/>
              </a:spcAft>
            </a:pPr>
            <a:r>
              <a:rPr sz="1100" b="1">
                <a:solidFill>
                  <a:srgbClr val="76B900"/>
                </a:solidFill>
              </a:rPr>
              <a:t>▶  </a:t>
            </a:r>
            <a:r>
              <a:rPr sz="1100">
                <a:solidFill>
                  <a:srgbClr val="28282D"/>
                </a:solidFill>
                <a:latin typeface="Calibri"/>
              </a:rPr>
              <a:t>Still materializes S, P in HBM.</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Numbers (N=8192, D=128):</a:t>
            </a:r>
          </a:p>
          <a:p>
            <a:pPr algn="l">
              <a:spcAft>
                <a:spcPts val="200"/>
              </a:spcAft>
            </a:pPr>
            <a:r>
              <a:rPr sz="1100" b="1">
                <a:solidFill>
                  <a:srgbClr val="76B900"/>
                </a:solidFill>
              </a:rPr>
              <a:t>▶  </a:t>
            </a:r>
            <a:r>
              <a:rPr sz="1100">
                <a:solidFill>
                  <a:srgbClr val="28282D"/>
                </a:solidFill>
                <a:latin typeface="Calibri"/>
              </a:rPr>
              <a:t>  Latency: 77.1 ms (≈ 60× V0)</a:t>
            </a:r>
          </a:p>
          <a:p>
            <a:pPr algn="l">
              <a:spcAft>
                <a:spcPts val="200"/>
              </a:spcAft>
            </a:pPr>
            <a:r>
              <a:rPr sz="1100" b="1">
                <a:solidFill>
                  <a:srgbClr val="76B900"/>
                </a:solidFill>
              </a:rPr>
              <a:t>▶  </a:t>
            </a:r>
            <a:r>
              <a:rPr sz="1100">
                <a:solidFill>
                  <a:srgbClr val="28282D"/>
                </a:solidFill>
                <a:latin typeface="Calibri"/>
              </a:rPr>
              <a:t>  Memory: 2176 MB</a:t>
            </a:r>
          </a:p>
          <a:p>
            <a:pPr algn="l">
              <a:spcAft>
                <a:spcPts val="200"/>
              </a:spcAft>
            </a:pPr>
            <a:r>
              <a:rPr sz="1100" b="1">
                <a:solidFill>
                  <a:srgbClr val="76B900"/>
                </a:solidFill>
              </a:rPr>
              <a:t>▶  </a:t>
            </a:r>
            <a:r>
              <a:rPr sz="1100">
                <a:solidFill>
                  <a:srgbClr val="28282D"/>
                </a:solidFill>
                <a:latin typeface="Calibri"/>
              </a:rPr>
              <a:t>  Rel L2 vs FP32: 6e-4</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Lesson: Tensor Cores alone give 60× — fusion still missing.</a:t>
            </a:r>
          </a:p>
        </p:txBody>
      </p:sp>
      <p:sp>
        <p:nvSpPr>
          <p:cNvPr id="11" name="Rectangle 10"/>
          <p:cNvSpPr/>
          <p:nvPr/>
        </p:nvSpPr>
        <p:spPr>
          <a:xfrm>
            <a:off x="8138160" y="1005840"/>
            <a:ext cx="3703320" cy="411480"/>
          </a:xfrm>
          <a:prstGeom prst="rect">
            <a:avLst/>
          </a:prstGeom>
          <a:solidFill>
            <a:srgbClr val="4B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417320"/>
            <a:ext cx="3703320" cy="41605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005840"/>
            <a:ext cx="3703320" cy="411480"/>
          </a:xfrm>
          <a:prstGeom prst="rect">
            <a:avLst/>
          </a:prstGeom>
          <a:noFill/>
        </p:spPr>
        <p:txBody>
          <a:bodyPr wrap="none" lIns="137160" anchor="ctr">
            <a:spAutoFit/>
          </a:bodyPr>
          <a:lstStyle/>
          <a:p>
            <a:pPr algn="l"/>
            <a:r>
              <a:rPr sz="1400" b="1">
                <a:solidFill>
                  <a:srgbClr val="FFFFFF"/>
                </a:solidFill>
                <a:latin typeface="Calibri"/>
              </a:rPr>
              <a:t>V2 — FP16 fused (FlashAttention)</a:t>
            </a:r>
          </a:p>
        </p:txBody>
      </p:sp>
      <p:sp>
        <p:nvSpPr>
          <p:cNvPr id="14" name="TextBox 13"/>
          <p:cNvSpPr txBox="1"/>
          <p:nvPr/>
        </p:nvSpPr>
        <p:spPr>
          <a:xfrm>
            <a:off x="8275320" y="1463040"/>
            <a:ext cx="3429000" cy="4069080"/>
          </a:xfrm>
          <a:prstGeom prst="rect">
            <a:avLst/>
          </a:prstGeom>
          <a:noFill/>
        </p:spPr>
        <p:txBody>
          <a:bodyPr wrap="square">
            <a:spAutoFit/>
          </a:bodyPr>
          <a:lstStyle/>
          <a:p>
            <a:pPr algn="l">
              <a:spcAft>
                <a:spcPts val="200"/>
              </a:spcAft>
            </a:pPr>
            <a:r>
              <a:rPr sz="1100" b="1">
                <a:solidFill>
                  <a:srgbClr val="76B900"/>
                </a:solidFill>
              </a:rPr>
              <a:t>▶  </a:t>
            </a:r>
            <a:r>
              <a:rPr sz="1100">
                <a:solidFill>
                  <a:srgbClr val="28282D"/>
                </a:solidFill>
                <a:latin typeface="Calibri"/>
              </a:rPr>
              <a:t>Single fused kernel + online softmax recurrence.</a:t>
            </a:r>
          </a:p>
          <a:p>
            <a:pPr algn="l">
              <a:spcAft>
                <a:spcPts val="200"/>
              </a:spcAft>
            </a:pPr>
            <a:r>
              <a:rPr sz="1100" b="1">
                <a:solidFill>
                  <a:srgbClr val="76B900"/>
                </a:solidFill>
              </a:rPr>
              <a:t>▶  </a:t>
            </a:r>
            <a:r>
              <a:rPr sz="1100">
                <a:solidFill>
                  <a:srgbClr val="28282D"/>
                </a:solidFill>
                <a:latin typeface="Calibri"/>
              </a:rPr>
              <a:t>Streams over K, V tiles — N×N matrix never materialized.</a:t>
            </a:r>
          </a:p>
          <a:p>
            <a:pPr algn="l">
              <a:spcAft>
                <a:spcPts val="200"/>
              </a:spcAft>
            </a:pPr>
            <a:r>
              <a:rPr sz="1100" b="1">
                <a:solidFill>
                  <a:srgbClr val="76B900"/>
                </a:solidFill>
              </a:rPr>
              <a:t>▶  </a:t>
            </a:r>
            <a:r>
              <a:rPr sz="1100">
                <a:solidFill>
                  <a:srgbClr val="28282D"/>
                </a:solidFill>
                <a:latin typeface="Calibri"/>
              </a:rPr>
              <a:t>Per-block SMEM = 96 KB (over default cap; needs cudaFuncSetAttribute).</a:t>
            </a:r>
          </a:p>
          <a:p>
            <a:pPr algn="l">
              <a:spcAft>
                <a:spcPts val="200"/>
              </a:spcAft>
            </a:pPr>
            <a:r>
              <a:rPr sz="1100" b="1">
                <a:solidFill>
                  <a:srgbClr val="76B900"/>
                </a:solidFill>
              </a:rPr>
              <a:t>▶  </a:t>
            </a:r>
            <a:r>
              <a:rPr sz="1100">
                <a:solidFill>
                  <a:srgbClr val="28282D"/>
                </a:solidFill>
                <a:latin typeface="Calibri"/>
              </a:rPr>
              <a:t>Two correctness traps: first iteration (m=−∞) and fully-masked rows (NaN guards required).</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Numbers (N=8192, D=128):</a:t>
            </a:r>
          </a:p>
          <a:p>
            <a:pPr algn="l">
              <a:spcAft>
                <a:spcPts val="200"/>
              </a:spcAft>
            </a:pPr>
            <a:r>
              <a:rPr sz="1100" b="1">
                <a:solidFill>
                  <a:srgbClr val="76B900"/>
                </a:solidFill>
              </a:rPr>
              <a:t>▶  </a:t>
            </a:r>
            <a:r>
              <a:rPr sz="1100">
                <a:solidFill>
                  <a:srgbClr val="28282D"/>
                </a:solidFill>
                <a:latin typeface="Calibri"/>
              </a:rPr>
              <a:t>  Latency: 60.9 ms</a:t>
            </a:r>
          </a:p>
          <a:p>
            <a:pPr algn="l">
              <a:spcAft>
                <a:spcPts val="200"/>
              </a:spcAft>
            </a:pPr>
            <a:r>
              <a:rPr sz="1100" b="1">
                <a:solidFill>
                  <a:srgbClr val="76B900"/>
                </a:solidFill>
              </a:rPr>
              <a:t>▶  </a:t>
            </a:r>
            <a:r>
              <a:rPr sz="1100">
                <a:solidFill>
                  <a:srgbClr val="28282D"/>
                </a:solidFill>
                <a:latin typeface="Calibri"/>
              </a:rPr>
              <a:t>  Memory: 128 MB ← 17× drop from V1</a:t>
            </a:r>
          </a:p>
          <a:p>
            <a:pPr algn="l">
              <a:spcAft>
                <a:spcPts val="200"/>
              </a:spcAft>
            </a:pPr>
            <a:r>
              <a:rPr sz="1100" b="1">
                <a:solidFill>
                  <a:srgbClr val="76B900"/>
                </a:solidFill>
              </a:rPr>
              <a:t>▶  </a:t>
            </a:r>
            <a:r>
              <a:rPr sz="1100">
                <a:solidFill>
                  <a:srgbClr val="28282D"/>
                </a:solidFill>
                <a:latin typeface="Calibri"/>
              </a:rPr>
              <a:t>  Rel L2 vs FP32: 3e-4</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 Finding 1: 17× memory reduction with NO precision change.</a:t>
            </a:r>
          </a:p>
        </p:txBody>
      </p:sp>
      <p:sp>
        <p:nvSpPr>
          <p:cNvPr id="15" name="TextBox 14"/>
          <p:cNvSpPr txBox="1"/>
          <p:nvPr/>
        </p:nvSpPr>
        <p:spPr>
          <a:xfrm>
            <a:off x="457200" y="5760720"/>
            <a:ext cx="11247120" cy="640080"/>
          </a:xfrm>
          <a:prstGeom prst="rect">
            <a:avLst/>
          </a:prstGeom>
          <a:noFill/>
        </p:spPr>
        <p:txBody>
          <a:bodyPr wrap="square" lIns="45720" rIns="45720" tIns="18288" bIns="18288" anchor="t">
            <a:spAutoFit/>
          </a:bodyPr>
          <a:lstStyle/>
          <a:p>
            <a:pPr algn="ctr"/>
            <a:r>
              <a:rPr sz="1400" b="1">
                <a:solidFill>
                  <a:srgbClr val="4B7800"/>
                </a:solidFill>
                <a:latin typeface="Calibri"/>
              </a:rPr>
              <a:t>Largest single memory finding in the sweep is at the V1→V2 step — algorithmic fusion, not precision, breaks the memory wall.</a:t>
            </a:r>
          </a:p>
        </p:txBody>
      </p:sp>
      <p:sp>
        <p:nvSpPr>
          <p:cNvPr id="16" name="Rectangle 15"/>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17" name="TextBox 16"/>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Pipelines V3 &amp; V4 · FP8 win, NVFP4 negative result</a:t>
            </a:r>
          </a:p>
        </p:txBody>
      </p:sp>
      <p:sp>
        <p:nvSpPr>
          <p:cNvPr id="3" name="Rectangle 2"/>
          <p:cNvSpPr/>
          <p:nvPr/>
        </p:nvSpPr>
        <p:spPr>
          <a:xfrm>
            <a:off x="365760" y="1005840"/>
            <a:ext cx="5669280" cy="411480"/>
          </a:xfrm>
          <a:prstGeom prst="rect">
            <a:avLst/>
          </a:prstGeom>
          <a:solidFill>
            <a:srgbClr val="4B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417320"/>
            <a:ext cx="5669280" cy="41605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5669280" cy="411480"/>
          </a:xfrm>
          <a:prstGeom prst="rect">
            <a:avLst/>
          </a:prstGeom>
          <a:noFill/>
        </p:spPr>
        <p:txBody>
          <a:bodyPr wrap="none" lIns="137160" anchor="ctr">
            <a:spAutoFit/>
          </a:bodyPr>
          <a:lstStyle/>
          <a:p>
            <a:pPr algn="l"/>
            <a:r>
              <a:rPr sz="1400" b="1">
                <a:solidFill>
                  <a:srgbClr val="FFFFFF"/>
                </a:solidFill>
                <a:latin typeface="Calibri"/>
              </a:rPr>
              <a:t>V3 — FP8 fused with hand-rolled mma.sync (the win)</a:t>
            </a:r>
          </a:p>
        </p:txBody>
      </p:sp>
      <p:sp>
        <p:nvSpPr>
          <p:cNvPr id="6" name="TextBox 5"/>
          <p:cNvSpPr txBox="1"/>
          <p:nvPr/>
        </p:nvSpPr>
        <p:spPr>
          <a:xfrm>
            <a:off x="502920" y="1463040"/>
            <a:ext cx="5394960" cy="4069080"/>
          </a:xfrm>
          <a:prstGeom prst="rect">
            <a:avLst/>
          </a:prstGeom>
          <a:noFill/>
        </p:spPr>
        <p:txBody>
          <a:bodyPr wrap="square">
            <a:spAutoFit/>
          </a:bodyPr>
          <a:lstStyle/>
          <a:p>
            <a:pPr algn="l">
              <a:spcAft>
                <a:spcPts val="200"/>
              </a:spcAft>
            </a:pPr>
            <a:r>
              <a:rPr sz="1100" b="1">
                <a:solidFill>
                  <a:srgbClr val="76B900"/>
                </a:solidFill>
              </a:rPr>
              <a:t>▶  </a:t>
            </a:r>
            <a:r>
              <a:rPr sz="1100">
                <a:solidFill>
                  <a:srgbClr val="28282D"/>
                </a:solidFill>
                <a:latin typeface="Calibri"/>
              </a:rPr>
              <a:t>Replaces FP16 wmma with FP8 (E4M3) mma.sync.m16n8k32 via inline PTX.</a:t>
            </a:r>
          </a:p>
          <a:p>
            <a:pPr algn="l">
              <a:spcAft>
                <a:spcPts val="200"/>
              </a:spcAft>
            </a:pPr>
            <a:r>
              <a:rPr sz="1100" b="1">
                <a:solidFill>
                  <a:srgbClr val="76B900"/>
                </a:solidFill>
              </a:rPr>
              <a:t>▶  </a:t>
            </a:r>
            <a:r>
              <a:rPr sz="1100">
                <a:solidFill>
                  <a:srgbClr val="28282D"/>
                </a:solidFill>
                <a:latin typeface="Calibri"/>
              </a:rPr>
              <a:t>PTX fully specifies per-thread fragment layout → output accumulator can stay in registers across the K/V loop (V2 had to round-trip through SMEM).</a:t>
            </a:r>
          </a:p>
          <a:p>
            <a:pPr algn="l">
              <a:spcAft>
                <a:spcPts val="200"/>
              </a:spcAft>
            </a:pPr>
            <a:r>
              <a:rPr sz="1100" b="1">
                <a:solidFill>
                  <a:srgbClr val="76B900"/>
                </a:solidFill>
              </a:rPr>
              <a:t>▶  </a:t>
            </a:r>
            <a:r>
              <a:rPr sz="1100">
                <a:solidFill>
                  <a:srgbClr val="28282D"/>
                </a:solidFill>
                <a:latin typeface="Calibri"/>
              </a:rPr>
              <a:t>Per-tile FP8 scaling for Q, K, V, P; quantize cooperatively at load time.</a:t>
            </a:r>
          </a:p>
          <a:p>
            <a:pPr algn="l">
              <a:spcAft>
                <a:spcPts val="200"/>
              </a:spcAft>
            </a:pPr>
            <a:r>
              <a:rPr sz="1100" b="1">
                <a:solidFill>
                  <a:srgbClr val="76B900"/>
                </a:solidFill>
              </a:rPr>
              <a:t>▶  </a:t>
            </a:r>
            <a:r>
              <a:rPr sz="1100">
                <a:solidFill>
                  <a:srgbClr val="28282D"/>
                </a:solidFill>
                <a:latin typeface="Calibri"/>
              </a:rPr>
              <a:t>Why not CUTLASS? `77_blackwell_fmha` reference is gated to sm_100a/sm_103a only — no consumer-Blackwell FMHA reference exists.</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Numbers (N=8192, D=128):</a:t>
            </a:r>
          </a:p>
          <a:p>
            <a:pPr algn="l">
              <a:spcAft>
                <a:spcPts val="200"/>
              </a:spcAft>
            </a:pPr>
            <a:r>
              <a:rPr sz="1100" b="1">
                <a:solidFill>
                  <a:srgbClr val="76B900"/>
                </a:solidFill>
              </a:rPr>
              <a:t>▶  </a:t>
            </a:r>
            <a:r>
              <a:rPr sz="1100">
                <a:solidFill>
                  <a:srgbClr val="28282D"/>
                </a:solidFill>
                <a:latin typeface="Calibri"/>
              </a:rPr>
              <a:t>  Latency: 25.8 ms  (2.4× V2)</a:t>
            </a:r>
          </a:p>
          <a:p>
            <a:pPr algn="l">
              <a:spcAft>
                <a:spcPts val="200"/>
              </a:spcAft>
            </a:pPr>
            <a:r>
              <a:rPr sz="1100" b="1">
                <a:solidFill>
                  <a:srgbClr val="76B900"/>
                </a:solidFill>
              </a:rPr>
              <a:t>▶  </a:t>
            </a:r>
            <a:r>
              <a:rPr sz="1100">
                <a:solidFill>
                  <a:srgbClr val="28282D"/>
                </a:solidFill>
                <a:latin typeface="Calibri"/>
              </a:rPr>
              <a:t>  Memory: 128 MB  · QMMA insns: 96</a:t>
            </a:r>
          </a:p>
          <a:p>
            <a:pPr algn="l">
              <a:spcAft>
                <a:spcPts val="200"/>
              </a:spcAft>
            </a:pPr>
            <a:r>
              <a:rPr sz="1100" b="1">
                <a:solidFill>
                  <a:srgbClr val="76B900"/>
                </a:solidFill>
              </a:rPr>
              <a:t>▶  </a:t>
            </a:r>
            <a:r>
              <a:rPr sz="1100">
                <a:solidFill>
                  <a:srgbClr val="28282D"/>
                </a:solidFill>
                <a:latin typeface="Calibri"/>
              </a:rPr>
              <a:t>  Rel L2 vs FP32: 5.3e-2</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 Finding 2: V3 closes ≈ half the SDPA latency gap.</a:t>
            </a:r>
          </a:p>
        </p:txBody>
      </p:sp>
      <p:sp>
        <p:nvSpPr>
          <p:cNvPr id="7" name="Rectangle 6"/>
          <p:cNvSpPr/>
          <p:nvPr/>
        </p:nvSpPr>
        <p:spPr>
          <a:xfrm>
            <a:off x="6172200" y="1005840"/>
            <a:ext cx="5669280" cy="41148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2200" y="1417320"/>
            <a:ext cx="5669280" cy="41605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005840"/>
            <a:ext cx="5669280" cy="411480"/>
          </a:xfrm>
          <a:prstGeom prst="rect">
            <a:avLst/>
          </a:prstGeom>
          <a:noFill/>
        </p:spPr>
        <p:txBody>
          <a:bodyPr wrap="none" lIns="137160" anchor="ctr">
            <a:spAutoFit/>
          </a:bodyPr>
          <a:lstStyle/>
          <a:p>
            <a:pPr algn="l"/>
            <a:r>
              <a:rPr sz="1400" b="1">
                <a:solidFill>
                  <a:srgbClr val="FFFFFF"/>
                </a:solidFill>
                <a:latin typeface="Calibri"/>
              </a:rPr>
              <a:t>V4 — NVFP4 with software microscaling (negative result)</a:t>
            </a:r>
          </a:p>
        </p:txBody>
      </p:sp>
      <p:sp>
        <p:nvSpPr>
          <p:cNvPr id="10" name="TextBox 9"/>
          <p:cNvSpPr txBox="1"/>
          <p:nvPr/>
        </p:nvSpPr>
        <p:spPr>
          <a:xfrm>
            <a:off x="6309360" y="1463040"/>
            <a:ext cx="5394960" cy="4069080"/>
          </a:xfrm>
          <a:prstGeom prst="rect">
            <a:avLst/>
          </a:prstGeom>
          <a:noFill/>
        </p:spPr>
        <p:txBody>
          <a:bodyPr wrap="square">
            <a:spAutoFit/>
          </a:bodyPr>
          <a:lstStyle/>
          <a:p>
            <a:pPr algn="l">
              <a:spcAft>
                <a:spcPts val="200"/>
              </a:spcAft>
            </a:pPr>
            <a:r>
              <a:rPr sz="1100" b="1">
                <a:solidFill>
                  <a:srgbClr val="76B900"/>
                </a:solidFill>
              </a:rPr>
              <a:t>▶  </a:t>
            </a:r>
            <a:r>
              <a:rPr sz="1100">
                <a:solidFill>
                  <a:srgbClr val="28282D"/>
                </a:solidFill>
                <a:latin typeface="Calibri"/>
              </a:rPr>
              <a:t>Same kernel structure as V3, but FP4 (E2M1) via kind::f8f6f4.m16n8k32.</a:t>
            </a:r>
          </a:p>
          <a:p>
            <a:pPr algn="l">
              <a:spcAft>
                <a:spcPts val="200"/>
              </a:spcAft>
            </a:pPr>
            <a:r>
              <a:rPr sz="1100" b="1">
                <a:solidFill>
                  <a:srgbClr val="76B900"/>
                </a:solidFill>
              </a:rPr>
              <a:t>▶  </a:t>
            </a:r>
            <a:r>
              <a:rPr sz="1100">
                <a:solidFill>
                  <a:srgbClr val="28282D"/>
                </a:solidFill>
                <a:latin typeface="Calibri"/>
              </a:rPr>
              <a:t>FP4 dynamic range is too narrow → per-row, per-K-block (block=32) FP32 scales applied at the accumulator before each mma.</a:t>
            </a:r>
          </a:p>
          <a:p>
            <a:pPr algn="l">
              <a:spcAft>
                <a:spcPts val="200"/>
              </a:spcAft>
            </a:pPr>
            <a:r>
              <a:rPr sz="1100" b="1">
                <a:solidFill>
                  <a:srgbClr val="76B900"/>
                </a:solidFill>
              </a:rPr>
              <a:t>▶  </a:t>
            </a:r>
            <a:r>
              <a:rPr sz="1100">
                <a:solidFill>
                  <a:srgbClr val="28282D"/>
                </a:solidFill>
                <a:latin typeface="Calibri"/>
              </a:rPr>
              <a:t>Each mma adds ≈ 12 register ops; across 96 mmas/iter ≈ 1100 ops/thread/iter overhead.</a:t>
            </a:r>
          </a:p>
          <a:p>
            <a:pPr algn="l">
              <a:spcAft>
                <a:spcPts val="200"/>
              </a:spcAft>
            </a:pPr>
            <a:r>
              <a:rPr sz="1100" b="1">
                <a:solidFill>
                  <a:srgbClr val="76B900"/>
                </a:solidFill>
              </a:rPr>
              <a:t>▶  </a:t>
            </a:r>
            <a:r>
              <a:rPr sz="1100">
                <a:solidFill>
                  <a:srgbClr val="28282D"/>
                </a:solidFill>
                <a:latin typeface="Calibri"/>
              </a:rPr>
              <a:t>Hardware-microscaled mxf4nvf4.m16n8k64 would internalize the cost — but its scattered-fragment layout is incompatible with row-major SMEM (multi-week port).</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Numbers (N=8192, D=128):</a:t>
            </a:r>
          </a:p>
          <a:p>
            <a:pPr algn="l">
              <a:spcAft>
                <a:spcPts val="200"/>
              </a:spcAft>
            </a:pPr>
            <a:r>
              <a:rPr sz="1100" b="1">
                <a:solidFill>
                  <a:srgbClr val="76B900"/>
                </a:solidFill>
              </a:rPr>
              <a:t>▶  </a:t>
            </a:r>
            <a:r>
              <a:rPr sz="1100">
                <a:solidFill>
                  <a:srgbClr val="28282D"/>
                </a:solidFill>
                <a:latin typeface="Calibri"/>
              </a:rPr>
              <a:t>  Latency: 33.4 ms  (0.77× V3 — SLOWER)</a:t>
            </a:r>
          </a:p>
          <a:p>
            <a:pPr algn="l">
              <a:spcAft>
                <a:spcPts val="200"/>
              </a:spcAft>
            </a:pPr>
            <a:r>
              <a:rPr sz="1100" b="1">
                <a:solidFill>
                  <a:srgbClr val="76B900"/>
                </a:solidFill>
              </a:rPr>
              <a:t>▶  </a:t>
            </a:r>
            <a:r>
              <a:rPr sz="1100">
                <a:solidFill>
                  <a:srgbClr val="28282D"/>
                </a:solidFill>
                <a:latin typeface="Calibri"/>
              </a:rPr>
              <a:t>  Memory: 128 MB  · QMMA insns: 96</a:t>
            </a:r>
          </a:p>
          <a:p>
            <a:pPr algn="l">
              <a:spcAft>
                <a:spcPts val="200"/>
              </a:spcAft>
            </a:pPr>
            <a:r>
              <a:rPr sz="1100" b="1">
                <a:solidFill>
                  <a:srgbClr val="76B900"/>
                </a:solidFill>
              </a:rPr>
              <a:t>▶  </a:t>
            </a:r>
            <a:r>
              <a:rPr sz="1100">
                <a:solidFill>
                  <a:srgbClr val="28282D"/>
                </a:solidFill>
                <a:latin typeface="Calibri"/>
              </a:rPr>
              <a:t>  Rel L2 vs FP32: 0.21</a:t>
            </a:r>
          </a:p>
          <a:p>
            <a:pPr algn="l">
              <a:spcAft>
                <a:spcPts val="200"/>
              </a:spcAft>
            </a:pPr>
            <a:r>
              <a:rPr sz="1100" b="1">
                <a:solidFill>
                  <a:srgbClr val="76B900"/>
                </a:solidFill>
              </a:rPr>
              <a:t>▶  </a:t>
            </a:r>
            <a:r>
              <a:rPr sz="1100">
                <a:solidFill>
                  <a:srgbClr val="28282D"/>
                </a:solidFill>
                <a:latin typeface="Calibri"/>
              </a:rPr>
              <a:t/>
            </a:r>
          </a:p>
          <a:p>
            <a:pPr algn="l">
              <a:spcAft>
                <a:spcPts val="200"/>
              </a:spcAft>
            </a:pPr>
            <a:r>
              <a:rPr sz="1100" b="1">
                <a:solidFill>
                  <a:srgbClr val="76B900"/>
                </a:solidFill>
              </a:rPr>
              <a:t>▶  </a:t>
            </a:r>
            <a:r>
              <a:rPr sz="1100">
                <a:solidFill>
                  <a:srgbClr val="28282D"/>
                </a:solidFill>
                <a:latin typeface="Calibri"/>
              </a:rPr>
              <a:t>★ Finding 3: software microscaling overhead &gt; FP4 throughput advantage.</a:t>
            </a:r>
          </a:p>
        </p:txBody>
      </p:sp>
      <p:sp>
        <p:nvSpPr>
          <p:cNvPr id="11" name="Rectangle 10"/>
          <p:cNvSpPr/>
          <p:nvPr/>
        </p:nvSpPr>
        <p:spPr>
          <a:xfrm>
            <a:off x="457200" y="5715000"/>
            <a:ext cx="1133856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6126480"/>
            <a:ext cx="11338560" cy="365760"/>
          </a:xfrm>
          <a:prstGeom prst="rect">
            <a:avLst/>
          </a:prstGeom>
          <a:solidFill>
            <a:srgbClr val="C8E6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715000"/>
            <a:ext cx="11338560" cy="411480"/>
          </a:xfrm>
          <a:prstGeom prst="rect">
            <a:avLst/>
          </a:prstGeom>
          <a:noFill/>
        </p:spPr>
        <p:txBody>
          <a:bodyPr wrap="none" lIns="137160" anchor="ctr">
            <a:spAutoFit/>
          </a:bodyPr>
          <a:lstStyle/>
          <a:p>
            <a:pPr algn="l"/>
            <a:r>
              <a:rPr sz="1400" b="1">
                <a:solidFill>
                  <a:srgbClr val="FFFFFF"/>
                </a:solidFill>
                <a:latin typeface="Calibri"/>
              </a:rPr>
              <a:t>Where we go next</a:t>
            </a:r>
          </a:p>
        </p:txBody>
      </p:sp>
      <p:sp>
        <p:nvSpPr>
          <p:cNvPr id="14" name="TextBox 13"/>
          <p:cNvSpPr txBox="1"/>
          <p:nvPr/>
        </p:nvSpPr>
        <p:spPr>
          <a:xfrm>
            <a:off x="594360" y="6172200"/>
            <a:ext cx="11064240" cy="274320"/>
          </a:xfrm>
          <a:prstGeom prst="rect">
            <a:avLst/>
          </a:prstGeom>
          <a:noFill/>
        </p:spPr>
        <p:txBody>
          <a:bodyPr wrap="square">
            <a:spAutoFit/>
          </a:bodyPr>
          <a:lstStyle/>
          <a:p>
            <a:pPr algn="l">
              <a:spcAft>
                <a:spcPts val="200"/>
              </a:spcAft>
            </a:pPr>
            <a:r>
              <a:rPr sz="1200" b="1">
                <a:solidFill>
                  <a:srgbClr val="76B900"/>
                </a:solidFill>
              </a:rPr>
              <a:t>▶  </a:t>
            </a:r>
            <a:r>
              <a:rPr sz="1200">
                <a:solidFill>
                  <a:srgbClr val="28282D"/>
                </a:solidFill>
                <a:latin typeface="Calibri"/>
              </a:rPr>
              <a:t>Lift V4 onto the hardware-microscaled mxf4nvf4.m16n8k64 path via ldmatrix-style swizzled SMEM and a CUTLASS-mediated load — expected to invert V4 vs V3.</a:t>
            </a:r>
          </a:p>
        </p:txBody>
      </p:sp>
      <p:sp>
        <p:nvSpPr>
          <p:cNvPr id="15" name="Rectangle 14"/>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16" name="TextBox 15"/>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2400" b="1">
                <a:solidFill>
                  <a:srgbClr val="FFFFFF"/>
                </a:solidFill>
                <a:latin typeface="Calibri"/>
              </a:rPr>
              <a:t>References</a:t>
            </a:r>
          </a:p>
        </p:txBody>
      </p:sp>
      <p:sp>
        <p:nvSpPr>
          <p:cNvPr id="3" name="TextBox 2"/>
          <p:cNvSpPr txBox="1"/>
          <p:nvPr/>
        </p:nvSpPr>
        <p:spPr>
          <a:xfrm>
            <a:off x="457200" y="1005840"/>
            <a:ext cx="11247120" cy="5303520"/>
          </a:xfrm>
          <a:prstGeom prst="rect">
            <a:avLst/>
          </a:prstGeom>
          <a:noFill/>
        </p:spPr>
        <p:txBody>
          <a:bodyPr wrap="square">
            <a:spAutoFit/>
          </a:bodyPr>
          <a:lstStyle/>
          <a:p>
            <a:pPr algn="l">
              <a:spcAft>
                <a:spcPts val="200"/>
              </a:spcAft>
            </a:pPr>
            <a:r>
              <a:rPr sz="1100" b="1">
                <a:solidFill>
                  <a:srgbClr val="4B7800"/>
                </a:solidFill>
              </a:rPr>
              <a:t>[1]  </a:t>
            </a:r>
            <a:r>
              <a:rPr sz="1100">
                <a:solidFill>
                  <a:srgbClr val="28282D"/>
                </a:solidFill>
              </a:rPr>
              <a:t>Dao et al. (NeurIPS 2022). FlashAttention: Fast and Memory-Efficient Exact Attention with IO-Awareness. arXiv:2205.14135.</a:t>
            </a:r>
          </a:p>
          <a:p>
            <a:pPr algn="l">
              <a:spcAft>
                <a:spcPts val="200"/>
              </a:spcAft>
            </a:pPr>
            <a:r>
              <a:rPr sz="1100" b="1">
                <a:solidFill>
                  <a:srgbClr val="4B7800"/>
                </a:solidFill>
              </a:rPr>
              <a:t>[2]  </a:t>
            </a:r>
            <a:r>
              <a:rPr sz="1100">
                <a:solidFill>
                  <a:srgbClr val="28282D"/>
                </a:solidFill>
              </a:rPr>
              <a:t>Dao (ICLR 2024). FlashAttention-2: Faster Attention with Better Parallelism and Work Partitioning. arXiv:2307.08691.</a:t>
            </a:r>
          </a:p>
          <a:p>
            <a:pPr algn="l">
              <a:spcAft>
                <a:spcPts val="200"/>
              </a:spcAft>
            </a:pPr>
            <a:r>
              <a:rPr sz="1100" b="1">
                <a:solidFill>
                  <a:srgbClr val="4B7800"/>
                </a:solidFill>
              </a:rPr>
              <a:t>[3]  </a:t>
            </a:r>
            <a:r>
              <a:rPr sz="1100">
                <a:solidFill>
                  <a:srgbClr val="28282D"/>
                </a:solidFill>
              </a:rPr>
              <a:t>Shah et al. (NeurIPS 2024). FlashAttention-3: Fast and Accurate Attention with Asynchrony and Low-Precision. arXiv:2407.08608.</a:t>
            </a:r>
          </a:p>
          <a:p>
            <a:pPr algn="l">
              <a:spcAft>
                <a:spcPts val="200"/>
              </a:spcAft>
            </a:pPr>
            <a:r>
              <a:rPr sz="1100" b="1">
                <a:solidFill>
                  <a:srgbClr val="4B7800"/>
                </a:solidFill>
              </a:rPr>
              <a:t>[4]  </a:t>
            </a:r>
            <a:r>
              <a:rPr sz="1100">
                <a:solidFill>
                  <a:srgbClr val="28282D"/>
                </a:solidFill>
              </a:rPr>
              <a:t>Micikevicius et al. (2022). FP8 Formats for Deep Learning. arXiv:2209.05433.</a:t>
            </a:r>
          </a:p>
          <a:p>
            <a:pPr algn="l">
              <a:spcAft>
                <a:spcPts val="200"/>
              </a:spcAft>
            </a:pPr>
            <a:r>
              <a:rPr sz="1100" b="1">
                <a:solidFill>
                  <a:srgbClr val="4B7800"/>
                </a:solidFill>
              </a:rPr>
              <a:t>[5]  </a:t>
            </a:r>
            <a:r>
              <a:rPr sz="1100">
                <a:solidFill>
                  <a:srgbClr val="28282D"/>
                </a:solidFill>
              </a:rPr>
              <a:t>Zhang et al. (ICLR 2025). SageAttention: Accurate 8-Bit Attention for Plug-and-Play Inference Acceleration. arXiv:2410.02367.</a:t>
            </a:r>
          </a:p>
          <a:p>
            <a:pPr algn="l">
              <a:spcAft>
                <a:spcPts val="200"/>
              </a:spcAft>
            </a:pPr>
            <a:r>
              <a:rPr sz="1100" b="1">
                <a:solidFill>
                  <a:srgbClr val="4B7800"/>
                </a:solidFill>
              </a:rPr>
              <a:t>[6]  </a:t>
            </a:r>
            <a:r>
              <a:rPr sz="1100">
                <a:solidFill>
                  <a:srgbClr val="28282D"/>
                </a:solidFill>
              </a:rPr>
              <a:t>Zhang et al. (NeurIPS 2025). SageAttention3: Microscaling FP4 Attention for Inference. arXiv:2505.11594.</a:t>
            </a:r>
          </a:p>
          <a:p>
            <a:pPr algn="l">
              <a:spcAft>
                <a:spcPts val="200"/>
              </a:spcAft>
            </a:pPr>
            <a:r>
              <a:rPr sz="1100" b="1">
                <a:solidFill>
                  <a:srgbClr val="4B7800"/>
                </a:solidFill>
              </a:rPr>
              <a:t>[7]  </a:t>
            </a:r>
            <a:r>
              <a:rPr sz="1100">
                <a:solidFill>
                  <a:srgbClr val="28282D"/>
                </a:solidFill>
              </a:rPr>
              <a:t>Zhang et al. (2026). Attn-QAT: 4-Bit Attention with Quantization-Aware Training. arXiv:2603.00040.</a:t>
            </a:r>
          </a:p>
          <a:p>
            <a:pPr algn="l">
              <a:spcAft>
                <a:spcPts val="200"/>
              </a:spcAft>
            </a:pPr>
            <a:r>
              <a:rPr sz="1100" b="1">
                <a:solidFill>
                  <a:srgbClr val="4B7800"/>
                </a:solidFill>
              </a:rPr>
              <a:t>[8]  </a:t>
            </a:r>
            <a:r>
              <a:rPr sz="1100">
                <a:solidFill>
                  <a:srgbClr val="28282D"/>
                </a:solidFill>
              </a:rPr>
              <a:t>Qiu &amp; Yao (ICLR 2026). Why Low-Precision Transformer Training Fails: An Analysis on Flash Attention. arXiv:2510.04212.</a:t>
            </a:r>
          </a:p>
          <a:p>
            <a:pPr algn="l">
              <a:spcAft>
                <a:spcPts val="200"/>
              </a:spcAft>
            </a:pPr>
            <a:r>
              <a:rPr sz="1100" b="1">
                <a:solidFill>
                  <a:srgbClr val="4B7800"/>
                </a:solidFill>
              </a:rPr>
              <a:t>[9]  </a:t>
            </a:r>
            <a:r>
              <a:rPr sz="1100">
                <a:solidFill>
                  <a:srgbClr val="28282D"/>
                </a:solidFill>
              </a:rPr>
              <a:t>Zhang et al. (2026). SnapMLA: Efficient Long-Context MLA Decoding via Hardware-Aware FP8 Quantized Pipelining. arXiv:2602.10718.</a:t>
            </a:r>
          </a:p>
          <a:p>
            <a:pPr algn="l">
              <a:spcAft>
                <a:spcPts val="200"/>
              </a:spcAft>
            </a:pPr>
            <a:r>
              <a:rPr sz="1100" b="1">
                <a:solidFill>
                  <a:srgbClr val="4B7800"/>
                </a:solidFill>
              </a:rPr>
              <a:t>[10]  </a:t>
            </a:r>
            <a:r>
              <a:rPr sz="1100">
                <a:solidFill>
                  <a:srgbClr val="28282D"/>
                </a:solidFill>
              </a:rPr>
              <a:t>Dong et al. (MLSys 2025). Flex Attention: A Programming Model for Generating Optimized Attention Kernels. arXiv:2412.05496.</a:t>
            </a:r>
          </a:p>
          <a:p>
            <a:pPr algn="l">
              <a:spcAft>
                <a:spcPts val="200"/>
              </a:spcAft>
            </a:pPr>
            <a:r>
              <a:rPr sz="1100" b="1">
                <a:solidFill>
                  <a:srgbClr val="4B7800"/>
                </a:solidFill>
              </a:rPr>
              <a:t>[11]  </a:t>
            </a:r>
            <a:r>
              <a:rPr sz="1100">
                <a:solidFill>
                  <a:srgbClr val="28282D"/>
                </a:solidFill>
              </a:rPr>
              <a:t>Prabhu et al. (ASPLOS 2025). vAttention: Dynamic Memory Management for Serving LLMs. arXiv:2405.04437.</a:t>
            </a:r>
          </a:p>
          <a:p>
            <a:pPr algn="l">
              <a:spcAft>
                <a:spcPts val="200"/>
              </a:spcAft>
            </a:pPr>
            <a:r>
              <a:rPr sz="1100" b="1">
                <a:solidFill>
                  <a:srgbClr val="4B7800"/>
                </a:solidFill>
              </a:rPr>
              <a:t>[12]  </a:t>
            </a:r>
            <a:r>
              <a:rPr sz="1100">
                <a:solidFill>
                  <a:srgbClr val="28282D"/>
                </a:solidFill>
              </a:rPr>
              <a:t>Shao et al. (2026). SlideSparse: Fast and Flexible (2N-2):2N Structured Sparsity. arXiv:2603.05232.</a:t>
            </a:r>
          </a:p>
          <a:p>
            <a:pPr algn="l">
              <a:spcAft>
                <a:spcPts val="200"/>
              </a:spcAft>
            </a:pPr>
            <a:r>
              <a:rPr sz="1100" b="1">
                <a:solidFill>
                  <a:srgbClr val="4B7800"/>
                </a:solidFill>
              </a:rPr>
              <a:t>[13]  </a:t>
            </a:r>
            <a:r>
              <a:rPr sz="1100">
                <a:solidFill>
                  <a:srgbClr val="28282D"/>
                </a:solidFill>
              </a:rPr>
              <a:t>Knoop &amp; Holtmann (2026). Private LLM Inference on Consumer Blackwell GPUs. arXiv:2601.09527.</a:t>
            </a:r>
          </a:p>
          <a:p>
            <a:pPr algn="l">
              <a:spcAft>
                <a:spcPts val="200"/>
              </a:spcAft>
            </a:pPr>
            <a:r>
              <a:rPr sz="1100" b="1">
                <a:solidFill>
                  <a:srgbClr val="4B7800"/>
                </a:solidFill>
              </a:rPr>
              <a:t>[14]  </a:t>
            </a:r>
            <a:r>
              <a:rPr sz="1100">
                <a:solidFill>
                  <a:srgbClr val="28282D"/>
                </a:solidFill>
              </a:rPr>
              <a:t>NVIDIA (2025). RTX Blackwell GPU Architecture Whitepaper.</a:t>
            </a:r>
          </a:p>
          <a:p>
            <a:pPr algn="l">
              <a:spcAft>
                <a:spcPts val="200"/>
              </a:spcAft>
            </a:pPr>
            <a:r>
              <a:rPr sz="1100" b="1">
                <a:solidFill>
                  <a:srgbClr val="4B7800"/>
                </a:solidFill>
              </a:rPr>
              <a:t>[15]  </a:t>
            </a:r>
            <a:r>
              <a:rPr sz="1100">
                <a:solidFill>
                  <a:srgbClr val="28282D"/>
                </a:solidFill>
              </a:rPr>
              <a:t>NVIDIA (2024). CUTLASS: CUDA Templates for Linear Algebra Subroutines, v4.4.2.</a:t>
            </a:r>
          </a:p>
          <a:p>
            <a:pPr algn="l">
              <a:spcAft>
                <a:spcPts val="200"/>
              </a:spcAft>
            </a:pPr>
            <a:r>
              <a:rPr sz="1100" b="1">
                <a:solidFill>
                  <a:srgbClr val="4B7800"/>
                </a:solidFill>
              </a:rPr>
              <a:t>[16]  </a:t>
            </a:r>
            <a:r>
              <a:rPr sz="1100">
                <a:solidFill>
                  <a:srgbClr val="28282D"/>
                </a:solidFill>
              </a:rPr>
              <a:t>NVIDIA (2024). Parallel Thread Execution ISA Version 8.7.</a:t>
            </a:r>
          </a:p>
          <a:p>
            <a:pPr algn="l">
              <a:spcAft>
                <a:spcPts val="200"/>
              </a:spcAft>
            </a:pPr>
            <a:r>
              <a:rPr sz="1100" b="1">
                <a:solidFill>
                  <a:srgbClr val="4B7800"/>
                </a:solidFill>
              </a:rPr>
              <a:t>[17]  </a:t>
            </a:r>
            <a:r>
              <a:rPr sz="1100">
                <a:solidFill>
                  <a:srgbClr val="28282D"/>
                </a:solidFill>
              </a:rPr>
              <a:t>Pineau et al. (JMLR 2021). Improving Reproducibility in Machine Learning Research. arXiv:2003.12206.</a:t>
            </a:r>
          </a:p>
          <a:p>
            <a:pPr algn="l">
              <a:spcAft>
                <a:spcPts val="200"/>
              </a:spcAft>
            </a:pPr>
            <a:r>
              <a:rPr sz="1100" b="1">
                <a:solidFill>
                  <a:srgbClr val="4B7800"/>
                </a:solidFill>
              </a:rPr>
              <a:t>[18]  </a:t>
            </a:r>
            <a:r>
              <a:rPr sz="1100">
                <a:solidFill>
                  <a:srgbClr val="28282D"/>
                </a:solidFill>
              </a:rPr>
              <a:t>Kalibera &amp; Jones (ISMM 2013). Rigorous Benchmarking in Reasonable Time. doi:10.1145/2464157.2464160.</a:t>
            </a:r>
          </a:p>
        </p:txBody>
      </p:sp>
      <p:sp>
        <p:nvSpPr>
          <p:cNvPr id="4" name="Rectangle 3"/>
          <p:cNvSpPr/>
          <p:nvPr/>
        </p:nvSpPr>
        <p:spPr>
          <a:xfrm>
            <a:off x="0" y="6492240"/>
            <a:ext cx="12191695" cy="365760"/>
          </a:xfrm>
          <a:prstGeom prst="rect">
            <a:avLst/>
          </a:prstGeom>
          <a:solidFill>
            <a:srgbClr val="78001E"/>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l"/>
            <a:r>
              <a:rPr sz="1100">
                <a:solidFill>
                  <a:srgbClr val="FFFFFF"/>
                </a:solidFill>
                <a:latin typeface="Calibri"/>
              </a:rPr>
              <a:t>CMP 674 · Parallel Computing with GPUs · Hacettepe University</a:t>
            </a:r>
          </a:p>
        </p:txBody>
      </p:sp>
      <p:sp>
        <p:nvSpPr>
          <p:cNvPr id="5" name="TextBox 4"/>
          <p:cNvSpPr txBox="1"/>
          <p:nvPr/>
        </p:nvSpPr>
        <p:spPr>
          <a:xfrm>
            <a:off x="10515600" y="6492240"/>
            <a:ext cx="1554480" cy="365760"/>
          </a:xfrm>
          <a:prstGeom prst="rect">
            <a:avLst/>
          </a:prstGeom>
          <a:noFill/>
        </p:spPr>
        <p:txBody>
          <a:bodyPr wrap="none" rIns="365760" anchor="ctr">
            <a:spAutoFit/>
          </a:bodyPr>
          <a:lstStyle/>
          <a:p>
            <a:pPr algn="r"/>
            <a:r>
              <a:rPr sz="1100">
                <a:solidFill>
                  <a:srgbClr val="FFFFFF"/>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A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1371600"/>
          </a:xfrm>
          <a:prstGeom prst="rect">
            <a:avLst/>
          </a:prstGeom>
          <a:noFill/>
        </p:spPr>
        <p:txBody>
          <a:bodyPr wrap="square" lIns="45720" rIns="45720" tIns="18288" bIns="18288" anchor="t">
            <a:spAutoFit/>
          </a:bodyPr>
          <a:lstStyle/>
          <a:p>
            <a:pPr algn="ctr"/>
            <a:r>
              <a:rPr sz="7200" b="1">
                <a:solidFill>
                  <a:srgbClr val="A8002B"/>
                </a:solidFill>
                <a:latin typeface="Calibri"/>
              </a:rPr>
              <a:t>Questions?</a:t>
            </a:r>
          </a:p>
        </p:txBody>
      </p:sp>
      <p:sp>
        <p:nvSpPr>
          <p:cNvPr id="5" name="TextBox 4"/>
          <p:cNvSpPr txBox="1"/>
          <p:nvPr/>
        </p:nvSpPr>
        <p:spPr>
          <a:xfrm>
            <a:off x="914400" y="3291840"/>
            <a:ext cx="10332720" cy="731520"/>
          </a:xfrm>
          <a:prstGeom prst="rect">
            <a:avLst/>
          </a:prstGeom>
          <a:noFill/>
        </p:spPr>
        <p:txBody>
          <a:bodyPr wrap="square" lIns="45720" rIns="45720" tIns="18288" bIns="18288" anchor="t">
            <a:spAutoFit/>
          </a:bodyPr>
          <a:lstStyle/>
          <a:p>
            <a:pPr algn="ctr"/>
            <a:r>
              <a:rPr sz="2200" b="0">
                <a:solidFill>
                  <a:srgbClr val="28282D"/>
                </a:solidFill>
                <a:latin typeface="Calibri"/>
              </a:rPr>
              <a:t>Code, paper, slides:</a:t>
            </a:r>
          </a:p>
        </p:txBody>
      </p:sp>
      <p:sp>
        <p:nvSpPr>
          <p:cNvPr id="6" name="TextBox 5"/>
          <p:cNvSpPr txBox="1"/>
          <p:nvPr/>
        </p:nvSpPr>
        <p:spPr>
          <a:xfrm>
            <a:off x="914400" y="3840480"/>
            <a:ext cx="10332720" cy="731520"/>
          </a:xfrm>
          <a:prstGeom prst="rect">
            <a:avLst/>
          </a:prstGeom>
          <a:noFill/>
        </p:spPr>
        <p:txBody>
          <a:bodyPr wrap="square" lIns="45720" rIns="45720" tIns="18288" bIns="18288" anchor="t">
            <a:spAutoFit/>
          </a:bodyPr>
          <a:lstStyle/>
          <a:p>
            <a:pPr algn="ctr"/>
            <a:r>
              <a:rPr sz="2200" b="1">
                <a:solidFill>
                  <a:srgbClr val="4B7800"/>
                </a:solidFill>
                <a:latin typeface="Consolas"/>
              </a:rPr>
              <a:t>github.com/canoztas/cmp674-attention-blackwell</a:t>
            </a:r>
          </a:p>
        </p:txBody>
      </p:sp>
      <p:sp>
        <p:nvSpPr>
          <p:cNvPr id="7" name="TextBox 6"/>
          <p:cNvSpPr txBox="1"/>
          <p:nvPr/>
        </p:nvSpPr>
        <p:spPr>
          <a:xfrm>
            <a:off x="914400" y="5303520"/>
            <a:ext cx="10332720" cy="548640"/>
          </a:xfrm>
          <a:prstGeom prst="rect">
            <a:avLst/>
          </a:prstGeom>
          <a:noFill/>
        </p:spPr>
        <p:txBody>
          <a:bodyPr wrap="square" lIns="45720" rIns="45720" tIns="18288" bIns="18288" anchor="t">
            <a:spAutoFit/>
          </a:bodyPr>
          <a:lstStyle/>
          <a:p>
            <a:pPr algn="ctr"/>
            <a:r>
              <a:rPr sz="1400" b="0">
                <a:solidFill>
                  <a:srgbClr val="28282D"/>
                </a:solidFill>
                <a:latin typeface="Calibri"/>
              </a:rPr>
              <a:t>CMP 674 — Parallel Computing with GPUs — Hacettepe University · Spring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